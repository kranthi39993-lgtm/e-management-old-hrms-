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312" r:id="rId3"/>
    <p:sldId id="4322" r:id="rId4"/>
    <p:sldId id="4323" r:id="rId5"/>
    <p:sldId id="4332" r:id="rId6"/>
    <p:sldId id="4333" r:id="rId7"/>
    <p:sldId id="4311" r:id="rId8"/>
    <p:sldId id="4313" r:id="rId9"/>
    <p:sldId id="4305" r:id="rId10"/>
    <p:sldId id="4335" r:id="rId11"/>
    <p:sldId id="4309" r:id="rId12"/>
    <p:sldId id="4306" r:id="rId14"/>
    <p:sldId id="4337" r:id="rId15"/>
    <p:sldId id="4338" r:id="rId16"/>
    <p:sldId id="4334" r:id="rId17"/>
  </p:sldIdLst>
  <p:sldSz cx="12192000" cy="6858000"/>
  <p:notesSz cx="6807200" cy="993902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6" y="52"/>
      </p:cViewPr>
      <p:guideLst>
        <p:guide orient="horz" pos="220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4295" cy="7429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6875" cy="48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236" tIns="46118" rIns="92236" bIns="46118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12291" name="Date Placeholder 2"/>
          <p:cNvSpPr>
            <a:spLocks noGrp="1" noChangeArrowheads="1"/>
          </p:cNvSpPr>
          <p:nvPr/>
        </p:nvSpPr>
        <p:spPr bwMode="auto">
          <a:xfrm>
            <a:off x="3843338" y="0"/>
            <a:ext cx="2957512" cy="488950"/>
          </a:xfrm>
          <a:prstGeom prst="rect">
            <a:avLst/>
          </a:prstGeom>
          <a:noFill/>
          <a:ln>
            <a:noFill/>
          </a:ln>
        </p:spPr>
        <p:txBody>
          <a:bodyPr lIns="92236" tIns="46118" rIns="92236" bIns="46118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endParaRPr lang="en-US" altLang="ja-JP" sz="1200" b="1"/>
          </a:p>
        </p:txBody>
      </p:sp>
      <p:sp>
        <p:nvSpPr>
          <p:cNvPr id="2052" name="Slide Image Placeholder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14338" y="1239838"/>
            <a:ext cx="595947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3" name="Notes Placeholder 4"/>
          <p:cNvSpPr>
            <a:spLocks noGrp="1" noRot="1" noChangeAspect="1" noChangeArrowheads="1"/>
          </p:cNvSpPr>
          <p:nvPr/>
        </p:nvSpPr>
        <p:spPr bwMode="auto">
          <a:xfrm>
            <a:off x="673100" y="4776788"/>
            <a:ext cx="5451475" cy="3916362"/>
          </a:xfrm>
          <a:prstGeom prst="rect">
            <a:avLst/>
          </a:prstGeom>
          <a:noFill/>
          <a:ln>
            <a:noFill/>
          </a:ln>
        </p:spPr>
        <p:txBody>
          <a:bodyPr lIns="92236" tIns="46118" rIns="92236" bIns="4611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Click to edit Master text styles</a:t>
            </a:r>
            <a:endParaRPr lang="en-US" altLang="ja-JP" sz="1200" b="1"/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Second level</a:t>
            </a:r>
            <a:endParaRPr lang="en-US" altLang="ja-JP" sz="1200" b="1"/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Third level</a:t>
            </a:r>
            <a:endParaRPr lang="en-US" altLang="ja-JP" sz="1200" b="1"/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Fourth level</a:t>
            </a:r>
            <a:endParaRPr lang="en-US" altLang="ja-JP" sz="1200" b="1"/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Fifth level</a:t>
            </a:r>
            <a:endParaRPr lang="en-US" altLang="ja-JP"/>
          </a:p>
        </p:txBody>
      </p:sp>
      <p:sp>
        <p:nvSpPr>
          <p:cNvPr id="12294" name="Footer Placeholder 5"/>
          <p:cNvSpPr>
            <a:spLocks noGrp="1" noChangeArrowheads="1"/>
          </p:cNvSpPr>
          <p:nvPr/>
        </p:nvSpPr>
        <p:spPr bwMode="auto">
          <a:xfrm>
            <a:off x="0" y="9428163"/>
            <a:ext cx="2936875" cy="509587"/>
          </a:xfrm>
          <a:prstGeom prst="rect">
            <a:avLst/>
          </a:prstGeom>
          <a:noFill/>
          <a:ln>
            <a:noFill/>
          </a:ln>
        </p:spPr>
        <p:txBody>
          <a:bodyPr lIns="92236" tIns="46118" rIns="92236" bIns="46118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ja-JP" sz="1200" b="1"/>
          </a:p>
        </p:txBody>
      </p:sp>
      <p:sp>
        <p:nvSpPr>
          <p:cNvPr id="12295" name="Slide Number Placeholder 6"/>
          <p:cNvSpPr>
            <a:spLocks noGrp="1" noChangeArrowheads="1"/>
          </p:cNvSpPr>
          <p:nvPr/>
        </p:nvSpPr>
        <p:spPr bwMode="auto">
          <a:xfrm>
            <a:off x="3843338" y="9428163"/>
            <a:ext cx="2957512" cy="509587"/>
          </a:xfrm>
          <a:prstGeom prst="rect">
            <a:avLst/>
          </a:prstGeom>
          <a:noFill/>
          <a:ln>
            <a:noFill/>
          </a:ln>
        </p:spPr>
        <p:txBody>
          <a:bodyPr lIns="92236" tIns="46118" rIns="92236" bIns="46118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fld id="{8F68D34D-FD60-4BE5-A002-ED751008F31D}" type="slidenum">
              <a:rPr lang="en-US" altLang="ja-JP" b="1" smtClean="0"/>
            </a:fld>
            <a:endParaRPr lang="en-US" altLang="ja-JP" sz="1200"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270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270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270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270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270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スライド イメージ プレースホルダー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4338" y="1239838"/>
            <a:ext cx="5959475" cy="3352800"/>
          </a:xfrm>
        </p:spPr>
      </p:sp>
      <p:sp>
        <p:nvSpPr>
          <p:cNvPr id="4099" name="ノート プレースホルダー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038" y="4783138"/>
            <a:ext cx="5445125" cy="391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/>
        </p:nvPicPr>
        <p:blipFill>
          <a:blip r:embed="rId12" cstate="email"/>
          <a:srcRect/>
          <a:stretch>
            <a:fillRect/>
          </a:stretch>
        </p:blipFill>
        <p:spPr bwMode="auto">
          <a:xfrm>
            <a:off x="211138" y="1588"/>
            <a:ext cx="286226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Straight Connector 13"/>
          <p:cNvSpPr>
            <a:spLocks noChangeShapeType="1"/>
          </p:cNvSpPr>
          <p:nvPr/>
        </p:nvSpPr>
        <p:spPr bwMode="auto">
          <a:xfrm>
            <a:off x="201614" y="476250"/>
            <a:ext cx="11657012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028" name="Straight Connector 14"/>
          <p:cNvSpPr>
            <a:spLocks noChangeShapeType="1"/>
          </p:cNvSpPr>
          <p:nvPr/>
        </p:nvSpPr>
        <p:spPr bwMode="auto">
          <a:xfrm>
            <a:off x="201614" y="6524625"/>
            <a:ext cx="11657012" cy="1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53" name="Date Placeholder 3"/>
          <p:cNvSpPr>
            <a:spLocks noChangeArrowheads="1"/>
          </p:cNvSpPr>
          <p:nvPr/>
        </p:nvSpPr>
        <p:spPr bwMode="auto">
          <a:xfrm>
            <a:off x="228600" y="6572252"/>
            <a:ext cx="2844800" cy="2206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ja-JP" sz="800" b="1">
              <a:solidFill>
                <a:srgbClr val="333333"/>
              </a:solidFill>
              <a:ea typeface="MS PGothic" panose="020B0600070205080204" pitchFamily="50" charset="-128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defTabSz="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" indent="223520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080" indent="223520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80" indent="223520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080" indent="223520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Group 2"/>
          <p:cNvGrpSpPr/>
          <p:nvPr/>
        </p:nvGrpSpPr>
        <p:grpSpPr>
          <a:xfrm>
            <a:off x="4737735" y="1894205"/>
            <a:ext cx="2717800" cy="1332230"/>
            <a:chOff x="7650" y="2959"/>
            <a:chExt cx="4280" cy="2098"/>
          </a:xfrm>
        </p:grpSpPr>
        <p:grpSp>
          <p:nvGrpSpPr>
            <p:cNvPr id="4112" name="组合 19"/>
            <p:cNvGrpSpPr/>
            <p:nvPr/>
          </p:nvGrpSpPr>
          <p:grpSpPr>
            <a:xfrm>
              <a:off x="7650" y="2959"/>
              <a:ext cx="2097" cy="2098"/>
              <a:chOff x="139391" y="1379571"/>
              <a:chExt cx="1651309" cy="1651309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139391" y="1379571"/>
                <a:ext cx="1651309" cy="1651309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52400" dist="63500" dir="8100000" algn="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1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269291" y="1497662"/>
                <a:ext cx="1417094" cy="1415127"/>
              </a:xfrm>
              <a:prstGeom prst="ellipse">
                <a:avLst/>
              </a:prstGeom>
              <a:solidFill>
                <a:srgbClr val="FFBF53"/>
              </a:solidFill>
              <a:ln w="28575">
                <a:noFill/>
              </a:ln>
              <a:effectLst>
                <a:outerShdw blurRad="152400" dist="63500" dir="8100000" algn="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1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115" name="文本框 22"/>
              <p:cNvSpPr txBox="1"/>
              <p:nvPr/>
            </p:nvSpPr>
            <p:spPr>
              <a:xfrm>
                <a:off x="591936" y="1562368"/>
                <a:ext cx="867858" cy="13722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buFont typeface="Arial" panose="020B0604020202020204" pitchFamily="34" charset="0"/>
                </a:pPr>
                <a:r>
                  <a:rPr lang="en-US" altLang="zh-CN" sz="6600" dirty="0">
                    <a:solidFill>
                      <a:schemeClr val="bg1"/>
                    </a:solidFill>
                    <a:ea typeface="SimSun" panose="02010600030101010101" pitchFamily="2" charset="-122"/>
                    <a:cs typeface="Calibri" panose="020F0502020204030204" pitchFamily="34" charset="0"/>
                  </a:rPr>
                  <a:t>5</a:t>
                </a:r>
                <a:endParaRPr lang="en-US" altLang="zh-CN" sz="6600" dirty="0">
                  <a:solidFill>
                    <a:schemeClr val="bg1"/>
                  </a:solidFill>
                  <a:ea typeface="SimSun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116" name="组合 23"/>
            <p:cNvGrpSpPr/>
            <p:nvPr/>
          </p:nvGrpSpPr>
          <p:grpSpPr>
            <a:xfrm>
              <a:off x="9832" y="2959"/>
              <a:ext cx="2098" cy="2098"/>
              <a:chOff x="139391" y="1379571"/>
              <a:chExt cx="1651309" cy="1651309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39391" y="1379571"/>
                <a:ext cx="1651309" cy="1651309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52400" dist="63500" dir="8100000" algn="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1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269291" y="1497662"/>
                <a:ext cx="1417095" cy="1415127"/>
              </a:xfrm>
              <a:prstGeom prst="ellipse">
                <a:avLst/>
              </a:prstGeom>
              <a:solidFill>
                <a:srgbClr val="02B3C5"/>
              </a:solidFill>
              <a:ln w="28575">
                <a:noFill/>
              </a:ln>
              <a:effectLst>
                <a:outerShdw blurRad="152400" dist="63500" dir="8100000" algn="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1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119" name="文本框 26"/>
              <p:cNvSpPr txBox="1"/>
              <p:nvPr/>
            </p:nvSpPr>
            <p:spPr>
              <a:xfrm>
                <a:off x="591936" y="1562368"/>
                <a:ext cx="867858" cy="13722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buFont typeface="Arial" panose="020B0604020202020204" pitchFamily="34" charset="0"/>
                </a:pPr>
                <a:r>
                  <a:rPr lang="en-US" altLang="zh-CN" sz="6600" dirty="0">
                    <a:solidFill>
                      <a:schemeClr val="bg1"/>
                    </a:solidFill>
                    <a:ea typeface="SimSun" panose="02010600030101010101" pitchFamily="2" charset="-122"/>
                    <a:cs typeface="Calibri" panose="020F0502020204030204" pitchFamily="34" charset="0"/>
                  </a:rPr>
                  <a:t>S</a:t>
                </a:r>
                <a:endParaRPr lang="en-US" altLang="zh-CN" sz="6600" dirty="0">
                  <a:solidFill>
                    <a:schemeClr val="bg1"/>
                  </a:solidFill>
                  <a:ea typeface="SimSun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4124" name="文本框 31"/>
          <p:cNvSpPr txBox="1"/>
          <p:nvPr/>
        </p:nvSpPr>
        <p:spPr>
          <a:xfrm>
            <a:off x="824230" y="3581400"/>
            <a:ext cx="105429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Benefits of 5S implementation</a:t>
            </a:r>
            <a:endParaRPr lang="en-US" altLang="zh-CN" sz="54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125" name="文本框 32"/>
          <p:cNvSpPr txBox="1"/>
          <p:nvPr/>
        </p:nvSpPr>
        <p:spPr>
          <a:xfrm>
            <a:off x="3956685" y="5718493"/>
            <a:ext cx="4276725" cy="30670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1400" b="1" dirty="0">
                <a:solidFill>
                  <a:srgbClr val="424242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T.T.T</a:t>
            </a:r>
            <a:endParaRPr lang="zh-CN" altLang="en-US" sz="1400" b="1" dirty="0">
              <a:solidFill>
                <a:srgbClr val="42424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26" name="文本框 33"/>
          <p:cNvSpPr txBox="1"/>
          <p:nvPr/>
        </p:nvSpPr>
        <p:spPr>
          <a:xfrm>
            <a:off x="4318635" y="6049645"/>
            <a:ext cx="355473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1400" dirty="0">
                <a:solidFill>
                  <a:srgbClr val="42424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MOHAMAD NOR SYABIL BIN YAKOB</a:t>
            </a:r>
            <a:endParaRPr lang="en-US" altLang="zh-CN" sz="1400" dirty="0">
              <a:solidFill>
                <a:srgbClr val="42424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4" name="文本框 31"/>
          <p:cNvSpPr txBox="1"/>
          <p:nvPr/>
        </p:nvSpPr>
        <p:spPr>
          <a:xfrm>
            <a:off x="824865" y="800100"/>
            <a:ext cx="105429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Learning Outcome</a:t>
            </a:r>
            <a:endParaRPr lang="en-US" altLang="zh-CN" sz="54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73710" y="3806190"/>
            <a:ext cx="11243945" cy="17532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sz="3600"/>
              <a:t>Upon completion of the session, participants will be able to implement basic 5S in everyday life and at work</a:t>
            </a:r>
            <a:endParaRPr 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4" name="文本框 31"/>
          <p:cNvSpPr txBox="1"/>
          <p:nvPr/>
        </p:nvSpPr>
        <p:spPr>
          <a:xfrm>
            <a:off x="824865" y="800100"/>
            <a:ext cx="105429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ACTIVITY</a:t>
            </a:r>
            <a:endParaRPr lang="en-US" altLang="zh-CN" sz="54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87725" y="4794885"/>
            <a:ext cx="5418455" cy="1198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/>
              <a:t>1 person with marker and paper</a:t>
            </a:r>
            <a:endParaRPr lang="en-US" sz="24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/>
              <a:t>1 person ready with timer</a:t>
            </a:r>
            <a:endParaRPr lang="en-US" sz="24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/>
              <a:t>1 person to do the task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3183890" y="3349625"/>
            <a:ext cx="582549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400">
                <a:sym typeface="+mn-ea"/>
              </a:rPr>
              <a:t>Divide into 3 groups</a:t>
            </a:r>
            <a:endParaRPr lang="en-US" sz="4400"/>
          </a:p>
          <a:p>
            <a:pPr algn="ctr"/>
            <a:endParaRPr lang="en-US"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4" name="文本框 31"/>
          <p:cNvSpPr txBox="1"/>
          <p:nvPr/>
        </p:nvSpPr>
        <p:spPr>
          <a:xfrm>
            <a:off x="824865" y="2967990"/>
            <a:ext cx="105429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What is 5S ?</a:t>
            </a:r>
            <a:endParaRPr lang="en-US" altLang="zh-CN" sz="54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4" name="文本框 31"/>
          <p:cNvSpPr txBox="1"/>
          <p:nvPr/>
        </p:nvSpPr>
        <p:spPr>
          <a:xfrm>
            <a:off x="824230" y="4698365"/>
            <a:ext cx="1054290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Font typeface="Arial" panose="020B0604020202020204" pitchFamily="34" charset="0"/>
            </a:pPr>
            <a:r>
              <a:rPr lang="en-US" altLang="zh-CN" sz="2000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The 5S methodology originated in Japan and was first implemented by the Toyota Motor Corporation </a:t>
            </a:r>
            <a:r>
              <a:rPr lang="en-US" altLang="zh-CN" sz="2000" dirty="0">
                <a:cs typeface="Calibri" panose="020F0502020204030204" pitchFamily="34" charset="0"/>
                <a:sym typeface="+mn-ea"/>
              </a:rPr>
              <a:t>in the early and mid-20th century</a:t>
            </a:r>
            <a:r>
              <a:rPr lang="en-US" altLang="zh-CN" sz="2000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. </a:t>
            </a:r>
            <a:endParaRPr lang="en-US" altLang="zh-CN" sz="2000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</a:pPr>
            <a:r>
              <a:rPr lang="en-US" altLang="zh-CN" sz="2000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The methodology was developed as a way to make just in time (JIT) manufacturing possible. </a:t>
            </a:r>
            <a:endParaRPr lang="en-US" altLang="zh-CN" sz="2000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" name="文本框 31"/>
          <p:cNvSpPr txBox="1"/>
          <p:nvPr/>
        </p:nvSpPr>
        <p:spPr>
          <a:xfrm>
            <a:off x="951230" y="1410335"/>
            <a:ext cx="1054290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Font typeface="Arial" panose="020B0604020202020204" pitchFamily="34" charset="0"/>
            </a:pPr>
            <a:r>
              <a:rPr lang="en-US" altLang="zh-CN" sz="2400" b="1" u="sng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5S is a system for organizing spaces</a:t>
            </a:r>
            <a:r>
              <a:rPr lang="en-US" altLang="zh-CN" sz="2400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so work can be performed </a:t>
            </a:r>
            <a:r>
              <a:rPr lang="en-US" altLang="zh-CN" sz="2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efficiently</a:t>
            </a:r>
            <a:r>
              <a:rPr lang="en-US" altLang="zh-CN" sz="2400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altLang="zh-CN" sz="2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effectively</a:t>
            </a:r>
            <a:r>
              <a:rPr lang="en-US" altLang="zh-CN" sz="2400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, and </a:t>
            </a:r>
            <a:r>
              <a:rPr lang="en-US" altLang="zh-CN" sz="2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safely</a:t>
            </a:r>
            <a:r>
              <a:rPr lang="en-US" altLang="zh-CN" sz="2400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.</a:t>
            </a:r>
            <a:endParaRPr lang="en-US" altLang="zh-CN" sz="2400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</a:pPr>
            <a:endParaRPr lang="en-US" altLang="zh-CN" sz="2400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</a:pPr>
            <a:r>
              <a:rPr lang="en-US" altLang="zh-CN" sz="2400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This system focuses on putting everything where it belongs and keeping the workplace organized, which makes it easier for people to do their jobs </a:t>
            </a:r>
            <a:r>
              <a:rPr lang="en-US" altLang="zh-CN" sz="2400" b="1" u="sng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without wasting time or risking injury.</a:t>
            </a:r>
            <a:endParaRPr lang="en-US" altLang="zh-CN" sz="2400" b="1" u="sng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5S-wheel-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509905"/>
            <a:ext cx="6010275" cy="58388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435090" y="5440045"/>
            <a:ext cx="528383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6. Safety</a:t>
            </a:r>
            <a:endParaRPr lang="en-US" sz="3200" b="1"/>
          </a:p>
          <a:p>
            <a:r>
              <a:rPr lang="en-US" sz="3200" b="1"/>
              <a:t>7. Spirit (Mental health)</a:t>
            </a:r>
            <a:endParaRPr 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6457315" y="669290"/>
            <a:ext cx="539178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The term 5S comes from five Japanese words:</a:t>
            </a:r>
            <a:endParaRPr lang="en-US" sz="2000" b="1"/>
          </a:p>
          <a:p>
            <a:r>
              <a:rPr lang="en-US" sz="2000" b="1"/>
              <a:t>1. Seiri</a:t>
            </a:r>
            <a:endParaRPr lang="en-US" sz="2000" b="1"/>
          </a:p>
          <a:p>
            <a:r>
              <a:rPr lang="en-US" sz="2000" b="1"/>
              <a:t>2. Seiton</a:t>
            </a:r>
            <a:endParaRPr lang="en-US" sz="2000" b="1"/>
          </a:p>
          <a:p>
            <a:r>
              <a:rPr lang="en-US" sz="2000" b="1"/>
              <a:t>3. Seiso</a:t>
            </a:r>
            <a:endParaRPr lang="en-US" sz="2000" b="1"/>
          </a:p>
          <a:p>
            <a:r>
              <a:rPr lang="en-US" sz="2000" b="1"/>
              <a:t>4. Seiketsu</a:t>
            </a:r>
            <a:endParaRPr lang="en-US" sz="2000" b="1"/>
          </a:p>
          <a:p>
            <a:r>
              <a:rPr lang="en-US" sz="2000" b="1"/>
              <a:t>5. Shitsuke</a:t>
            </a:r>
            <a:endParaRPr lang="en-US" sz="2000" b="1"/>
          </a:p>
          <a:p>
            <a:endParaRPr lang="en-US" sz="2000" b="1"/>
          </a:p>
          <a:p>
            <a:r>
              <a:rPr lang="en-US" sz="2000" b="1"/>
              <a:t>In English, often translated to:</a:t>
            </a:r>
            <a:endParaRPr lang="en-US" sz="2000" b="1"/>
          </a:p>
          <a:p>
            <a:r>
              <a:rPr lang="en-US" sz="2000" b="1"/>
              <a:t>1. Sort</a:t>
            </a:r>
            <a:endParaRPr lang="en-US" sz="2000" b="1"/>
          </a:p>
          <a:p>
            <a:r>
              <a:rPr lang="en-US" sz="2000" b="1"/>
              <a:t>2. Set in Order</a:t>
            </a:r>
            <a:endParaRPr lang="en-US" sz="2000" b="1"/>
          </a:p>
          <a:p>
            <a:r>
              <a:rPr lang="en-US" sz="2000" b="1"/>
              <a:t>3. Shine</a:t>
            </a:r>
            <a:endParaRPr lang="en-US" sz="2000" b="1"/>
          </a:p>
          <a:p>
            <a:r>
              <a:rPr lang="en-US" sz="2000" b="1"/>
              <a:t>4. Standardize</a:t>
            </a:r>
            <a:endParaRPr lang="en-US" sz="2000" b="1"/>
          </a:p>
          <a:p>
            <a:r>
              <a:rPr lang="en-US" sz="2000" b="1"/>
              <a:t>5. Sustain</a:t>
            </a:r>
            <a:endParaRPr lang="en-US" sz="2000" b="1"/>
          </a:p>
        </p:txBody>
      </p:sp>
      <p:sp>
        <p:nvSpPr>
          <p:cNvPr id="5" name="Oval 4"/>
          <p:cNvSpPr/>
          <p:nvPr/>
        </p:nvSpPr>
        <p:spPr>
          <a:xfrm>
            <a:off x="1359535" y="961390"/>
            <a:ext cx="2272030" cy="2211705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dying-up-1-cop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795020"/>
            <a:ext cx="11430000" cy="5267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749940" y="0"/>
            <a:ext cx="24371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ja-JP" sz="2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What is SEIRI</a:t>
            </a:r>
            <a:endParaRPr lang="en-US" altLang="ja-JP" sz="2400" b="1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618605" y="1367790"/>
            <a:ext cx="5359400" cy="4723765"/>
            <a:chOff x="10760" y="2217"/>
            <a:chExt cx="8440" cy="7439"/>
          </a:xfrm>
        </p:grpSpPr>
        <p:grpSp>
          <p:nvGrpSpPr>
            <p:cNvPr id="9" name="Group 8"/>
            <p:cNvGrpSpPr/>
            <p:nvPr/>
          </p:nvGrpSpPr>
          <p:grpSpPr>
            <a:xfrm>
              <a:off x="10760" y="5436"/>
              <a:ext cx="7952" cy="4220"/>
              <a:chOff x="10760" y="5436"/>
              <a:chExt cx="7952" cy="4220"/>
            </a:xfrm>
          </p:grpSpPr>
          <p:pic>
            <p:nvPicPr>
              <p:cNvPr id="6" name="図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60" y="5436"/>
                <a:ext cx="7952" cy="4221"/>
              </a:xfrm>
              <a:prstGeom prst="rect">
                <a:avLst/>
              </a:prstGeom>
            </p:spPr>
          </p:pic>
          <p:sp>
            <p:nvSpPr>
              <p:cNvPr id="3" name="Rectangles 2"/>
              <p:cNvSpPr/>
              <p:nvPr/>
            </p:nvSpPr>
            <p:spPr>
              <a:xfrm>
                <a:off x="15877" y="5436"/>
                <a:ext cx="2763" cy="2163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ja-JP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5733" y="6621"/>
                <a:ext cx="2410" cy="62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ja-JP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p:grpSp>
        <p:sp>
          <p:nvSpPr>
            <p:cNvPr id="2" name="Cloud Callout 1"/>
            <p:cNvSpPr/>
            <p:nvPr/>
          </p:nvSpPr>
          <p:spPr>
            <a:xfrm>
              <a:off x="15070" y="2217"/>
              <a:ext cx="4130" cy="3033"/>
            </a:xfrm>
            <a:prstGeom prst="cloudCallout">
              <a:avLst>
                <a:gd name="adj1" fmla="val -48740"/>
                <a:gd name="adj2" fmla="val 68859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15323" y="2910"/>
              <a:ext cx="3816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omic Sans MS" panose="030F0702030302020204" charset="0"/>
                  <a:cs typeface="Comic Sans MS" panose="030F0702030302020204" charset="0"/>
                </a:rPr>
                <a:t>I can’t remember what I put in here...wonder where is my black jacket</a:t>
              </a:r>
              <a:endParaRPr lang="en-US" sz="16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sp>
        <p:nvSpPr>
          <p:cNvPr id="12" name="Text Box 11"/>
          <p:cNvSpPr txBox="1"/>
          <p:nvPr/>
        </p:nvSpPr>
        <p:spPr>
          <a:xfrm>
            <a:off x="168910" y="584200"/>
            <a:ext cx="822071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u="sng"/>
              <a:t>SEIRI / SORT</a:t>
            </a:r>
            <a:endParaRPr lang="en-US" sz="3200" b="1" u="sng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sz="2400"/>
              <a:t>Sort things.</a:t>
            </a:r>
            <a:endParaRPr lang="en-US" sz="2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sz="2400"/>
              <a:t>Get rid of unwanted items</a:t>
            </a: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u="sng"/>
              <a:t>When you get rid of unwanted items</a:t>
            </a:r>
            <a:endParaRPr lang="en-US" sz="3200" b="1" u="sng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sz="2400"/>
              <a:t>Item that you need will appear / easy to spot</a:t>
            </a:r>
            <a:endParaRPr lang="en-US" sz="2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sz="2400"/>
              <a:t>When you have too many items unorganized, you will easily get confused of where or what they are</a:t>
            </a:r>
            <a:endParaRPr lang="en-US" sz="2400"/>
          </a:p>
          <a:p>
            <a:pPr marL="0" indent="0">
              <a:buFont typeface="Wingdings" panose="05000000000000000000" charset="0"/>
              <a:buNone/>
            </a:pPr>
            <a:endParaRPr lang="en-US" sz="2400"/>
          </a:p>
          <a:p>
            <a:pPr marL="0" indent="0">
              <a:buFont typeface="Wingdings" panose="05000000000000000000" charset="0"/>
              <a:buNone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u="sng"/>
              <a:t>When you SEIRI / SORT, you will be at ease</a:t>
            </a:r>
            <a:endParaRPr lang="en-US" sz="3200" b="1" u="sng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sz="2400"/>
              <a:t>Best to do in a fun way</a:t>
            </a:r>
            <a:endParaRPr 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4" name="文本框 31"/>
          <p:cNvSpPr txBox="1"/>
          <p:nvPr/>
        </p:nvSpPr>
        <p:spPr>
          <a:xfrm>
            <a:off x="824865" y="800100"/>
            <a:ext cx="105429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ACTIVITY</a:t>
            </a:r>
            <a:endParaRPr lang="en-US" altLang="zh-CN" sz="54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60215" y="4779645"/>
            <a:ext cx="3672840" cy="1198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0" indent="0" algn="l">
              <a:buFont typeface="Arial" panose="020B0604020202020204" pitchFamily="34" charset="0"/>
              <a:buNone/>
            </a:pPr>
            <a:r>
              <a:rPr lang="en-US" sz="2400"/>
              <a:t>Group 1 : Daily life</a:t>
            </a:r>
            <a:endParaRPr lang="en-US" sz="240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sz="2400"/>
              <a:t>Group 2 : Manufacturing</a:t>
            </a:r>
            <a:endParaRPr lang="en-US" sz="240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sz="2400"/>
              <a:t>Group 3 : Office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3183890" y="3349625"/>
            <a:ext cx="582549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400">
                <a:sym typeface="+mn-ea"/>
              </a:rPr>
              <a:t>Divide into 3 groups</a:t>
            </a:r>
            <a:endParaRPr lang="en-US" sz="4400">
              <a:sym typeface="+mn-ea"/>
            </a:endParaRPr>
          </a:p>
          <a:p>
            <a:pPr algn="ctr"/>
            <a:r>
              <a:rPr lang="en-US" sz="2800">
                <a:sym typeface="+mn-ea"/>
              </a:rPr>
              <a:t>Discuss benefits of 5S (3 benefits)</a:t>
            </a:r>
            <a:endParaRPr lang="en-US" sz="2800"/>
          </a:p>
          <a:p>
            <a:pPr algn="ctr"/>
            <a:endParaRPr 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 rotWithShape="1">
          <a:blip r:embed="rId1"/>
          <a:srcRect t="6151" b="3036"/>
          <a:stretch>
            <a:fillRect/>
          </a:stretch>
        </p:blipFill>
        <p:spPr>
          <a:xfrm>
            <a:off x="174900" y="557348"/>
            <a:ext cx="11885005" cy="5925339"/>
          </a:xfrm>
          <a:prstGeom prst="rect">
            <a:avLst/>
          </a:prstGeom>
        </p:spPr>
      </p:pic>
      <p:sp>
        <p:nvSpPr>
          <p:cNvPr id="9" name="テキスト ボックス 15"/>
          <p:cNvSpPr txBox="1"/>
          <p:nvPr/>
        </p:nvSpPr>
        <p:spPr>
          <a:xfrm>
            <a:off x="3207445" y="60960"/>
            <a:ext cx="6580990" cy="470323"/>
          </a:xfrm>
          <a:prstGeom prst="rect">
            <a:avLst/>
          </a:prstGeom>
          <a:effectLst>
            <a:softEdge rad="12700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Occurrence of various wastes due to lack of 5s</a:t>
            </a:r>
            <a:endParaRPr kumimoji="1" lang="ja-JP" alt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テキスト ボックス 6"/>
          <p:cNvSpPr txBox="1"/>
          <p:nvPr/>
        </p:nvSpPr>
        <p:spPr>
          <a:xfrm>
            <a:off x="855977" y="2002971"/>
            <a:ext cx="1268914" cy="2786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 b="1" dirty="0"/>
              <a:t>Sort</a:t>
            </a:r>
            <a:endParaRPr kumimoji="1" lang="ja-JP" altLang="en-US" sz="1800" b="1" dirty="0"/>
          </a:p>
        </p:txBody>
      </p:sp>
      <p:sp>
        <p:nvSpPr>
          <p:cNvPr id="11" name="テキスト ボックス 8"/>
          <p:cNvSpPr txBox="1"/>
          <p:nvPr/>
        </p:nvSpPr>
        <p:spPr>
          <a:xfrm>
            <a:off x="856019" y="2897925"/>
            <a:ext cx="1199204" cy="2894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 b="1"/>
              <a:t>Set</a:t>
            </a:r>
            <a:endParaRPr kumimoji="1" lang="ja-JP" altLang="en-US" sz="1800" b="1"/>
          </a:p>
        </p:txBody>
      </p:sp>
      <p:sp>
        <p:nvSpPr>
          <p:cNvPr id="12" name="テキスト ボックス 9"/>
          <p:cNvSpPr txBox="1"/>
          <p:nvPr/>
        </p:nvSpPr>
        <p:spPr>
          <a:xfrm>
            <a:off x="827930" y="3871640"/>
            <a:ext cx="1244710" cy="34330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 b="1"/>
              <a:t>Shine</a:t>
            </a:r>
            <a:endParaRPr kumimoji="1" lang="ja-JP" altLang="en-US" sz="1800" b="1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83725" y="5690061"/>
            <a:ext cx="1458587" cy="3188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 b="1"/>
              <a:t>Sustain</a:t>
            </a:r>
            <a:endParaRPr kumimoji="1" lang="ja-JP" altLang="en-US" sz="1800" b="1"/>
          </a:p>
        </p:txBody>
      </p:sp>
      <p:sp>
        <p:nvSpPr>
          <p:cNvPr id="14" name="テキスト ボックス 10"/>
          <p:cNvSpPr txBox="1"/>
          <p:nvPr/>
        </p:nvSpPr>
        <p:spPr>
          <a:xfrm>
            <a:off x="633696" y="4786482"/>
            <a:ext cx="1628613" cy="3777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 b="1"/>
              <a:t>Standardize</a:t>
            </a:r>
            <a:endParaRPr kumimoji="1" lang="ja-JP" altLang="en-US" sz="1800" b="1"/>
          </a:p>
        </p:txBody>
      </p:sp>
      <p:sp>
        <p:nvSpPr>
          <p:cNvPr id="16" name="テキスト ボックス 17"/>
          <p:cNvSpPr txBox="1"/>
          <p:nvPr/>
        </p:nvSpPr>
        <p:spPr>
          <a:xfrm>
            <a:off x="4151867" y="2188179"/>
            <a:ext cx="2362144" cy="2328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/>
              <a:t>Waste in finding things</a:t>
            </a:r>
            <a:endParaRPr kumimoji="1" lang="ja-JP" altLang="en-US" sz="1200" b="1"/>
          </a:p>
        </p:txBody>
      </p:sp>
      <p:sp>
        <p:nvSpPr>
          <p:cNvPr id="17" name="テキスト ボックス 18"/>
          <p:cNvSpPr txBox="1"/>
          <p:nvPr/>
        </p:nvSpPr>
        <p:spPr>
          <a:xfrm>
            <a:off x="3910149" y="2888131"/>
            <a:ext cx="2891245" cy="255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Transportation and movement Waste</a:t>
            </a:r>
            <a:endParaRPr kumimoji="1" lang="ja-JP" altLang="en-US" sz="1200" b="1" dirty="0"/>
          </a:p>
        </p:txBody>
      </p:sp>
      <p:sp>
        <p:nvSpPr>
          <p:cNvPr id="18" name="テキスト ボックス 19"/>
          <p:cNvSpPr txBox="1"/>
          <p:nvPr/>
        </p:nvSpPr>
        <p:spPr>
          <a:xfrm>
            <a:off x="4171406" y="3426732"/>
            <a:ext cx="2264228" cy="24828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Waste of time waiting</a:t>
            </a:r>
            <a:endParaRPr kumimoji="1" lang="ja-JP" altLang="en-US" sz="1200" b="1" dirty="0"/>
          </a:p>
        </p:txBody>
      </p:sp>
      <p:sp>
        <p:nvSpPr>
          <p:cNvPr id="19" name="テキスト ボックス 20"/>
          <p:cNvSpPr txBox="1"/>
          <p:nvPr/>
        </p:nvSpPr>
        <p:spPr>
          <a:xfrm>
            <a:off x="4180115" y="4032068"/>
            <a:ext cx="2272936" cy="2438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Wasted Inventory</a:t>
            </a:r>
            <a:endParaRPr kumimoji="1" lang="ja-JP" altLang="en-US" sz="1200" b="1" dirty="0"/>
          </a:p>
        </p:txBody>
      </p:sp>
      <p:sp>
        <p:nvSpPr>
          <p:cNvPr id="20" name="テキスト ボックス 21"/>
          <p:cNvSpPr txBox="1"/>
          <p:nvPr/>
        </p:nvSpPr>
        <p:spPr>
          <a:xfrm>
            <a:off x="4136571" y="4659085"/>
            <a:ext cx="2333898" cy="2438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 smtClean="0"/>
              <a:t>Waste </a:t>
            </a:r>
            <a:r>
              <a:rPr kumimoji="1" lang="en-US" altLang="ja-JP" sz="1200" b="1" dirty="0"/>
              <a:t>of work itself</a:t>
            </a:r>
            <a:endParaRPr kumimoji="1" lang="ja-JP" altLang="en-US" sz="1200" b="1" dirty="0"/>
          </a:p>
        </p:txBody>
      </p:sp>
      <p:sp>
        <p:nvSpPr>
          <p:cNvPr id="21" name="テキスト ボックス 23"/>
          <p:cNvSpPr txBox="1"/>
          <p:nvPr/>
        </p:nvSpPr>
        <p:spPr>
          <a:xfrm>
            <a:off x="4101736" y="5355771"/>
            <a:ext cx="2490652" cy="2786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Waste of defects and mistakes</a:t>
            </a:r>
            <a:endParaRPr kumimoji="1" lang="ja-JP" altLang="en-US" sz="1200" b="1" dirty="0"/>
          </a:p>
        </p:txBody>
      </p:sp>
      <p:sp>
        <p:nvSpPr>
          <p:cNvPr id="22" name="テキスト ボックス 24"/>
          <p:cNvSpPr txBox="1"/>
          <p:nvPr/>
        </p:nvSpPr>
        <p:spPr>
          <a:xfrm>
            <a:off x="3944983" y="6013177"/>
            <a:ext cx="2664824" cy="222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W</a:t>
            </a:r>
            <a:r>
              <a:rPr kumimoji="1" lang="en-US" altLang="ja-JP" sz="1200" b="1" dirty="0" smtClean="0"/>
              <a:t>aste </a:t>
            </a:r>
            <a:r>
              <a:rPr kumimoji="1" lang="en-US" altLang="ja-JP" sz="1200" b="1" dirty="0"/>
              <a:t>of asking around</a:t>
            </a:r>
            <a:endParaRPr kumimoji="1" lang="ja-JP" altLang="en-US" sz="1200" b="1" dirty="0"/>
          </a:p>
        </p:txBody>
      </p:sp>
      <p:sp>
        <p:nvSpPr>
          <p:cNvPr id="23" name="テキスト ボックス 25"/>
          <p:cNvSpPr txBox="1"/>
          <p:nvPr/>
        </p:nvSpPr>
        <p:spPr>
          <a:xfrm>
            <a:off x="8610892" y="2125013"/>
            <a:ext cx="1830685" cy="2088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Cost reduction</a:t>
            </a:r>
            <a:endParaRPr kumimoji="1" lang="ja-JP" altLang="en-US" sz="1200" b="1" dirty="0"/>
          </a:p>
        </p:txBody>
      </p:sp>
      <p:sp>
        <p:nvSpPr>
          <p:cNvPr id="24" name="テキスト ボックス 27"/>
          <p:cNvSpPr txBox="1"/>
          <p:nvPr/>
        </p:nvSpPr>
        <p:spPr>
          <a:xfrm>
            <a:off x="8467259" y="2636460"/>
            <a:ext cx="2244283" cy="2199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Productivity improvement</a:t>
            </a:r>
            <a:endParaRPr kumimoji="1" lang="ja-JP" altLang="en-US" sz="1200" b="1" dirty="0"/>
          </a:p>
        </p:txBody>
      </p:sp>
      <p:sp>
        <p:nvSpPr>
          <p:cNvPr id="25" name="テキスト ボックス 28"/>
          <p:cNvSpPr txBox="1"/>
          <p:nvPr/>
        </p:nvSpPr>
        <p:spPr>
          <a:xfrm>
            <a:off x="8513889" y="3155405"/>
            <a:ext cx="2206362" cy="2061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100" b="1" dirty="0"/>
              <a:t>Defect reduction</a:t>
            </a:r>
            <a:endParaRPr kumimoji="1" lang="ja-JP" altLang="en-US" sz="1100" b="1" dirty="0"/>
          </a:p>
        </p:txBody>
      </p:sp>
      <p:sp>
        <p:nvSpPr>
          <p:cNvPr id="26" name="テキスト ボックス 29"/>
          <p:cNvSpPr txBox="1"/>
          <p:nvPr/>
        </p:nvSpPr>
        <p:spPr>
          <a:xfrm>
            <a:off x="8546847" y="3695519"/>
            <a:ext cx="2112443" cy="1797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100" b="1" dirty="0"/>
              <a:t>Fault reduction</a:t>
            </a:r>
            <a:endParaRPr kumimoji="1" lang="ja-JP" altLang="en-US" sz="1100" b="1" dirty="0"/>
          </a:p>
        </p:txBody>
      </p:sp>
      <p:sp>
        <p:nvSpPr>
          <p:cNvPr id="27" name="テキスト ボックス 30"/>
          <p:cNvSpPr txBox="1"/>
          <p:nvPr/>
        </p:nvSpPr>
        <p:spPr>
          <a:xfrm>
            <a:off x="8334757" y="4245245"/>
            <a:ext cx="2437745" cy="1961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/>
              <a:t>Improved safety and security</a:t>
            </a:r>
            <a:endParaRPr kumimoji="1" lang="ja-JP" altLang="en-US" sz="1200" b="1"/>
          </a:p>
        </p:txBody>
      </p:sp>
      <p:sp>
        <p:nvSpPr>
          <p:cNvPr id="28" name="テキスト ボックス 31"/>
          <p:cNvSpPr txBox="1"/>
          <p:nvPr/>
        </p:nvSpPr>
        <p:spPr>
          <a:xfrm>
            <a:off x="8420631" y="4799694"/>
            <a:ext cx="2273493" cy="2512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Increase motivation</a:t>
            </a:r>
            <a:endParaRPr kumimoji="1" lang="ja-JP" altLang="en-US" sz="1200" b="1" dirty="0"/>
          </a:p>
        </p:txBody>
      </p:sp>
      <p:sp>
        <p:nvSpPr>
          <p:cNvPr id="29" name="テキスト ボックス 32"/>
          <p:cNvSpPr txBox="1"/>
          <p:nvPr/>
        </p:nvSpPr>
        <p:spPr>
          <a:xfrm>
            <a:off x="8314255" y="5382376"/>
            <a:ext cx="2554041" cy="2085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/>
              <a:t>Improve customer reputation</a:t>
            </a:r>
            <a:endParaRPr kumimoji="1" lang="ja-JP" altLang="en-US" sz="1200" b="1"/>
          </a:p>
        </p:txBody>
      </p:sp>
      <p:sp>
        <p:nvSpPr>
          <p:cNvPr id="30" name="テキスト ボックス 33"/>
          <p:cNvSpPr txBox="1"/>
          <p:nvPr/>
        </p:nvSpPr>
        <p:spPr>
          <a:xfrm>
            <a:off x="8270473" y="5991497"/>
            <a:ext cx="2571698" cy="3355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/>
              <a:t>Human resource development for the next generation</a:t>
            </a:r>
            <a:endParaRPr kumimoji="1" lang="ja-JP" altLang="en-US" sz="1200" b="1" dirty="0"/>
          </a:p>
        </p:txBody>
      </p:sp>
      <p:sp>
        <p:nvSpPr>
          <p:cNvPr id="31" name="テキスト ボックス 35"/>
          <p:cNvSpPr txBox="1"/>
          <p:nvPr/>
        </p:nvSpPr>
        <p:spPr>
          <a:xfrm>
            <a:off x="8335010" y="1208405"/>
            <a:ext cx="2817495" cy="509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 b="1"/>
              <a:t>Effects of various waste eliminations</a:t>
            </a:r>
            <a:endParaRPr kumimoji="1" lang="ja-JP" altLang="en-US" sz="1800" b="1"/>
          </a:p>
        </p:txBody>
      </p:sp>
      <p:sp>
        <p:nvSpPr>
          <p:cNvPr id="4" name="正方形/長方形 3"/>
          <p:cNvSpPr/>
          <p:nvPr/>
        </p:nvSpPr>
        <p:spPr bwMode="auto">
          <a:xfrm>
            <a:off x="3862316" y="1146412"/>
            <a:ext cx="3029803" cy="5213445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ja-JP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124" name="文本框 31"/>
          <p:cNvSpPr txBox="1"/>
          <p:nvPr/>
        </p:nvSpPr>
        <p:spPr>
          <a:xfrm>
            <a:off x="298450" y="504190"/>
            <a:ext cx="11595100" cy="5835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32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Benefit of 5S</a:t>
            </a:r>
            <a:endParaRPr lang="en-US" altLang="zh-CN" sz="32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5" name="テキスト ボックス 35"/>
          <p:cNvSpPr txBox="1"/>
          <p:nvPr/>
        </p:nvSpPr>
        <p:spPr>
          <a:xfrm>
            <a:off x="3968115" y="1212215"/>
            <a:ext cx="2817495" cy="509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 b="1"/>
              <a:t>Waste occured due to lack of 5S</a:t>
            </a:r>
            <a:endParaRPr kumimoji="1" lang="ja-JP" altLang="en-US" sz="1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3749940" y="0"/>
            <a:ext cx="24707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ja-JP" sz="2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How to decide</a:t>
            </a:r>
            <a:endParaRPr lang="en-US" altLang="ja-JP" sz="2400" b="1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284" y="837506"/>
            <a:ext cx="5075964" cy="5182987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2" y="654568"/>
            <a:ext cx="4657600" cy="5661894"/>
          </a:xfrm>
          <a:prstGeom prst="rect">
            <a:avLst/>
          </a:prstGeom>
        </p:spPr>
      </p:pic>
      <p:sp>
        <p:nvSpPr>
          <p:cNvPr id="9" name="正方形/長方形 8"/>
          <p:cNvSpPr/>
          <p:nvPr/>
        </p:nvSpPr>
        <p:spPr bwMode="auto">
          <a:xfrm>
            <a:off x="634365" y="1645920"/>
            <a:ext cx="1126490" cy="3759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ja-JP" dirty="0"/>
              <a:t>can’t use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" name="正方形/長方形 9"/>
          <p:cNvSpPr/>
          <p:nvPr/>
        </p:nvSpPr>
        <p:spPr bwMode="auto">
          <a:xfrm>
            <a:off x="2203450" y="1661160"/>
            <a:ext cx="124587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ja-JP" dirty="0"/>
              <a:t>don’t use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正方形/長方形 10"/>
          <p:cNvSpPr/>
          <p:nvPr/>
        </p:nvSpPr>
        <p:spPr bwMode="auto">
          <a:xfrm>
            <a:off x="4013835" y="1686560"/>
            <a:ext cx="95250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using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2" name="正方形/長方形 11"/>
          <p:cNvSpPr/>
          <p:nvPr/>
        </p:nvSpPr>
        <p:spPr bwMode="auto">
          <a:xfrm>
            <a:off x="6579049" y="1656080"/>
            <a:ext cx="1555179" cy="3657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usually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3" name="正方形/長方形 12"/>
          <p:cNvSpPr/>
          <p:nvPr/>
        </p:nvSpPr>
        <p:spPr bwMode="auto">
          <a:xfrm>
            <a:off x="8135056" y="1732280"/>
            <a:ext cx="1555179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ja-JP" dirty="0"/>
              <a:t>occasionally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6572250" y="1732280"/>
            <a:ext cx="1153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frequent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10099675" y="1717040"/>
            <a:ext cx="1014095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maybe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" name="正方形/長方形 8"/>
          <p:cNvSpPr/>
          <p:nvPr/>
        </p:nvSpPr>
        <p:spPr bwMode="auto">
          <a:xfrm>
            <a:off x="823595" y="5775325"/>
            <a:ext cx="2377440" cy="375920"/>
          </a:xfrm>
          <a:prstGeom prst="rect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ja-JP" b="1" dirty="0"/>
              <a:t>SEIRI these</a:t>
            </a:r>
            <a:endParaRPr kumimoji="0" lang="ja-JP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正方形/長方形 8"/>
          <p:cNvSpPr/>
          <p:nvPr/>
        </p:nvSpPr>
        <p:spPr bwMode="auto">
          <a:xfrm>
            <a:off x="9789160" y="5598795"/>
            <a:ext cx="1597660" cy="375920"/>
          </a:xfrm>
          <a:prstGeom prst="rect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ja-JP" b="1" dirty="0"/>
              <a:t>SEIRI these</a:t>
            </a:r>
            <a:endParaRPr kumimoji="0" lang="ja-JP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正方形/長方形 9"/>
          <p:cNvSpPr/>
          <p:nvPr/>
        </p:nvSpPr>
        <p:spPr bwMode="auto">
          <a:xfrm>
            <a:off x="2162175" y="639445"/>
            <a:ext cx="133858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Your items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6" name="正方形/長方形 9"/>
          <p:cNvSpPr/>
          <p:nvPr/>
        </p:nvSpPr>
        <p:spPr bwMode="auto">
          <a:xfrm>
            <a:off x="7965440" y="898525"/>
            <a:ext cx="180848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Items you using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4" name="文本框 31"/>
          <p:cNvSpPr txBox="1"/>
          <p:nvPr/>
        </p:nvSpPr>
        <p:spPr>
          <a:xfrm>
            <a:off x="824865" y="800100"/>
            <a:ext cx="105429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ACTIVITY</a:t>
            </a:r>
            <a:endParaRPr lang="en-US" altLang="zh-CN" sz="54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87725" y="4794885"/>
            <a:ext cx="5418455" cy="1198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/>
              <a:t>1 person with pen and paper</a:t>
            </a:r>
            <a:endParaRPr lang="en-US" sz="24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/>
              <a:t>1 person ready with timer</a:t>
            </a:r>
            <a:endParaRPr lang="en-US" sz="24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/>
              <a:t>1 person to do the task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2797175" y="3349625"/>
            <a:ext cx="63658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400">
                <a:sym typeface="+mn-ea"/>
              </a:rPr>
              <a:t>Back to activity 1 group</a:t>
            </a:r>
            <a:endParaRPr lang="en-US" sz="4400"/>
          </a:p>
        </p:txBody>
      </p:sp>
      <p:sp>
        <p:nvSpPr>
          <p:cNvPr id="4" name="Text Box 3"/>
          <p:cNvSpPr txBox="1"/>
          <p:nvPr/>
        </p:nvSpPr>
        <p:spPr>
          <a:xfrm>
            <a:off x="4403725" y="4117975"/>
            <a:ext cx="33839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/>
              <a:t>sort the items</a:t>
            </a:r>
            <a:endParaRPr 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4" name="文本框 31"/>
          <p:cNvSpPr txBox="1"/>
          <p:nvPr/>
        </p:nvSpPr>
        <p:spPr>
          <a:xfrm>
            <a:off x="824865" y="800100"/>
            <a:ext cx="105429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Learning Outcome</a:t>
            </a:r>
            <a:endParaRPr lang="en-US" altLang="zh-CN" sz="54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73710" y="3806190"/>
            <a:ext cx="11243945" cy="1198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3600"/>
              <a:t>know how to categorize</a:t>
            </a:r>
            <a:endParaRPr lang="en-US" sz="3600"/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3600"/>
              <a:t>able to sort your items</a:t>
            </a:r>
            <a:endParaRPr lang="en-US"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_zh2NzPpff_oKqVFGPswzgQ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728980"/>
            <a:ext cx="7315200" cy="4381500"/>
          </a:xfrm>
          <a:prstGeom prst="rect">
            <a:avLst/>
          </a:prstGeom>
        </p:spPr>
      </p:pic>
      <p:sp>
        <p:nvSpPr>
          <p:cNvPr id="4124" name="文本框 31"/>
          <p:cNvSpPr txBox="1"/>
          <p:nvPr/>
        </p:nvSpPr>
        <p:spPr>
          <a:xfrm>
            <a:off x="824865" y="5374005"/>
            <a:ext cx="105429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tx1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Thank you</a:t>
            </a:r>
            <a:endParaRPr lang="en-US" altLang="zh-CN" sz="5400" b="1" dirty="0">
              <a:solidFill>
                <a:schemeClr val="tx1"/>
              </a:solidFill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BFD7F6"/>
      </a:accent5>
      <a:accent6>
        <a:srgbClr val="AE4845"/>
      </a:accent6>
      <a:hlink>
        <a:srgbClr val="0066CC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2335</Words>
  <Application>WPS Presentation</Application>
  <PresentationFormat>ワイド画面</PresentationFormat>
  <Paragraphs>164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MS PGothic</vt:lpstr>
      <vt:lpstr>Calibri</vt:lpstr>
      <vt:lpstr>Meiryo UI</vt:lpstr>
      <vt:lpstr>Comic Sans MS</vt:lpstr>
      <vt:lpstr>Wingdings</vt:lpstr>
      <vt:lpstr>Arial Unicode MS</vt:lpstr>
      <vt:lpstr>Microsoft YaHei</vt:lpstr>
      <vt:lpstr>2_Default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shafiqah</dc:creator>
  <cp:lastModifiedBy>tomomim</cp:lastModifiedBy>
  <cp:revision>504</cp:revision>
  <cp:lastPrinted>2021-04-16T08:34:00Z</cp:lastPrinted>
  <dcterms:created xsi:type="dcterms:W3CDTF">2020-06-02T08:35:00Z</dcterms:created>
  <dcterms:modified xsi:type="dcterms:W3CDTF">2022-01-26T04:27:24Z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1033-11.2.0.10382</vt:lpwstr>
  </property>
  <property fmtid="{D5CDD505-2E9C-101B-9397-08002B2CF9AE}" pid="3" name="ICV">
    <vt:lpwstr>64FF77A094EF42BCBD2A8585C6CE763B</vt:lpwstr>
  </property>
</Properties>
</file>