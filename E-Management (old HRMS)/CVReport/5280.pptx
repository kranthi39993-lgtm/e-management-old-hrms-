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67002" r:id="rId2"/>
    <p:sldId id="67001" r:id="rId3"/>
  </p:sldIdLst>
  <p:sldSz cx="12192000" cy="6858000"/>
  <p:notesSz cx="6735763" cy="98663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9">
          <p15:clr>
            <a:srgbClr val="A4A3A4"/>
          </p15:clr>
        </p15:guide>
        <p15:guide id="2" pos="387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kao_abe" initials="t" lastIdx="9" clrIdx="0"/>
  <p:cmAuthor id="2" name="MARUWA MARUWA" initials="MM" lastIdx="1" clrIdx="1">
    <p:extLst>
      <p:ext uri="{19B8F6BF-5375-455C-9EA6-DF929625EA0E}">
        <p15:presenceInfo xmlns:p15="http://schemas.microsoft.com/office/powerpoint/2012/main" userId="402413c8c063d51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CF3BB"/>
    <a:srgbClr val="0000CC"/>
    <a:srgbClr val="66FF33"/>
    <a:srgbClr val="F4BD6C"/>
    <a:srgbClr val="D89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43" autoAdjust="0"/>
    <p:restoredTop sz="93557" autoAdjust="0"/>
  </p:normalViewPr>
  <p:slideViewPr>
    <p:cSldViewPr snapToGrid="0">
      <p:cViewPr varScale="1">
        <p:scale>
          <a:sx n="82" d="100"/>
          <a:sy n="82" d="100"/>
        </p:scale>
        <p:origin x="562" y="62"/>
      </p:cViewPr>
      <p:guideLst>
        <p:guide orient="horz" pos="2209"/>
        <p:guide pos="3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4295" cy="7429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Header Placeholder 1">
            <a:extLst>
              <a:ext uri="{FF2B5EF4-FFF2-40B4-BE49-F238E27FC236}">
                <a16:creationId xmlns:a16="http://schemas.microsoft.com/office/drawing/2014/main" id="{EF2379B1-298F-E17D-18C2-9F3FEA70B9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06054" cy="4853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12291" name="Date Placeholder 2">
            <a:extLst>
              <a:ext uri="{FF2B5EF4-FFF2-40B4-BE49-F238E27FC236}">
                <a16:creationId xmlns:a16="http://schemas.microsoft.com/office/drawing/2014/main" id="{0B5B6A8C-5DE8-3FCB-675D-2F346A3C9F2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803006" y="1"/>
            <a:ext cx="2926475" cy="485357"/>
          </a:xfrm>
          <a:prstGeom prst="rect">
            <a:avLst/>
          </a:prstGeom>
          <a:noFill/>
          <a:ln>
            <a:noFill/>
          </a:ln>
        </p:spPr>
        <p:txBody>
          <a:bodyPr lIns="91424" tIns="45712" rIns="91424" bIns="45712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endParaRPr lang="en-US" altLang="ja-JP" sz="1200" b="1"/>
          </a:p>
        </p:txBody>
      </p:sp>
      <p:sp>
        <p:nvSpPr>
          <p:cNvPr id="2052" name="Slide Image Placeholder 3">
            <a:extLst>
              <a:ext uri="{FF2B5EF4-FFF2-40B4-BE49-F238E27FC236}">
                <a16:creationId xmlns:a16="http://schemas.microsoft.com/office/drawing/2014/main" id="{69B03E8B-80E2-55BB-54D3-84385B77BDAB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00050" y="1230313"/>
            <a:ext cx="5916613" cy="332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293" name="Notes Placeholder 4">
            <a:extLst>
              <a:ext uri="{FF2B5EF4-FFF2-40B4-BE49-F238E27FC236}">
                <a16:creationId xmlns:a16="http://schemas.microsoft.com/office/drawing/2014/main" id="{B12C4FA7-7608-E554-4D35-FC6E8FA17D5F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66038" y="4741694"/>
            <a:ext cx="5394265" cy="3887589"/>
          </a:xfrm>
          <a:prstGeom prst="rect">
            <a:avLst/>
          </a:prstGeom>
          <a:noFill/>
          <a:ln>
            <a:noFill/>
          </a:ln>
        </p:spPr>
        <p:txBody>
          <a:bodyPr lIns="91424" tIns="45712" rIns="91424" bIns="457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Click to edit Master text styles</a:t>
            </a:r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Second level</a:t>
            </a:r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Third level</a:t>
            </a:r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Fourth level</a:t>
            </a:r>
          </a:p>
          <a:p>
            <a:pPr eaLnBrk="1" hangingPunct="1"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en-US" altLang="ja-JP" sz="1200" b="1"/>
              <a:t>Fifth level</a:t>
            </a:r>
            <a:endParaRPr lang="en-US" altLang="ja-JP"/>
          </a:p>
        </p:txBody>
      </p:sp>
      <p:sp>
        <p:nvSpPr>
          <p:cNvPr id="12294" name="Footer Placeholder 5">
            <a:extLst>
              <a:ext uri="{FF2B5EF4-FFF2-40B4-BE49-F238E27FC236}">
                <a16:creationId xmlns:a16="http://schemas.microsoft.com/office/drawing/2014/main" id="{2C40A588-131A-5A71-6265-D88313A7458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" y="9358895"/>
            <a:ext cx="2906054" cy="505844"/>
          </a:xfrm>
          <a:prstGeom prst="rect">
            <a:avLst/>
          </a:prstGeom>
          <a:noFill/>
          <a:ln>
            <a:noFill/>
          </a:ln>
        </p:spPr>
        <p:txBody>
          <a:bodyPr lIns="91424" tIns="45712" rIns="91424" bIns="45712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ja-JP" sz="1200" b="1"/>
          </a:p>
        </p:txBody>
      </p:sp>
      <p:sp>
        <p:nvSpPr>
          <p:cNvPr id="12295" name="Slide Number Placeholder 6">
            <a:extLst>
              <a:ext uri="{FF2B5EF4-FFF2-40B4-BE49-F238E27FC236}">
                <a16:creationId xmlns:a16="http://schemas.microsoft.com/office/drawing/2014/main" id="{9F5D409C-81BF-654F-7E9A-0E9FA318960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803006" y="9358895"/>
            <a:ext cx="2926475" cy="505844"/>
          </a:xfrm>
          <a:prstGeom prst="rect">
            <a:avLst/>
          </a:prstGeom>
          <a:noFill/>
          <a:ln>
            <a:noFill/>
          </a:ln>
        </p:spPr>
        <p:txBody>
          <a:bodyPr lIns="91424" tIns="45712" rIns="91424" bIns="45712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fld id="{36F84437-E118-42F6-9E04-DDBCFC20C455}" type="slidenum">
              <a:rPr lang="en-US" altLang="ja-JP" b="1" smtClean="0"/>
              <a:pPr algn="r" eaLnBrk="1" hangingPunct="1"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ja-JP" sz="1200"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defTabSz="0" rtl="0" eaLnBrk="0" fontAlgn="t" latinLnBrk="1" hangingPunct="0">
      <a:spcBef>
        <a:spcPct val="30000"/>
      </a:spcBef>
      <a:spcAft>
        <a:spcPct val="0"/>
      </a:spcAft>
      <a:tabLst>
        <a:tab pos="0" algn="l"/>
        <a:tab pos="1588" algn="l"/>
      </a:tabLst>
      <a:defRPr sz="1200" kern="1200" baseline="-314880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83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>
            <a:extLst>
              <a:ext uri="{FF2B5EF4-FFF2-40B4-BE49-F238E27FC236}">
                <a16:creationId xmlns:a16="http://schemas.microsoft.com/office/drawing/2014/main" id="{0845E20E-FEEF-C7CB-71DB-DDEE60319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138" y="1588"/>
            <a:ext cx="2862262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Straight Connector 13">
            <a:extLst>
              <a:ext uri="{FF2B5EF4-FFF2-40B4-BE49-F238E27FC236}">
                <a16:creationId xmlns:a16="http://schemas.microsoft.com/office/drawing/2014/main" id="{CDCC82BA-7624-473E-579F-A2561F6FC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613" y="476250"/>
            <a:ext cx="11657012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028" name="Straight Connector 14">
            <a:extLst>
              <a:ext uri="{FF2B5EF4-FFF2-40B4-BE49-F238E27FC236}">
                <a16:creationId xmlns:a16="http://schemas.microsoft.com/office/drawing/2014/main" id="{53C6D5F6-7E31-EE95-4368-0D5FA78DE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613" y="6524625"/>
            <a:ext cx="11657012" cy="15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053" name="Date Placeholder 3">
            <a:extLst>
              <a:ext uri="{FF2B5EF4-FFF2-40B4-BE49-F238E27FC236}">
                <a16:creationId xmlns:a16="http://schemas.microsoft.com/office/drawing/2014/main" id="{9A933AA1-7533-BF82-5035-A1B1F563B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572250"/>
            <a:ext cx="2844800" cy="2206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ja-JP" sz="800" b="1">
              <a:solidFill>
                <a:srgbClr val="333333"/>
              </a:solidFill>
              <a:ea typeface="MS PGothic" panose="020B0600070205080204" pitchFamily="50" charset="-128"/>
              <a:sym typeface="Arial" panose="020B0604020202020204" pitchFamily="34" charset="0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8F5EE32-CA94-570B-015F-0C44D701807F}"/>
              </a:ext>
            </a:extLst>
          </p:cNvPr>
          <p:cNvSpPr/>
          <p:nvPr userDrawn="1"/>
        </p:nvSpPr>
        <p:spPr bwMode="auto">
          <a:xfrm>
            <a:off x="3184635" y="60763"/>
            <a:ext cx="1944414" cy="334743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ja-JP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CONFIDENTIAL</a:t>
            </a:r>
            <a:endParaRPr kumimoji="0" lang="ja-JP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576184-DA5A-5811-2531-7994EDE415B2}"/>
              </a:ext>
            </a:extLst>
          </p:cNvPr>
          <p:cNvSpPr txBox="1"/>
          <p:nvPr userDrawn="1"/>
        </p:nvSpPr>
        <p:spPr>
          <a:xfrm>
            <a:off x="11461075" y="6513304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7950FF0-201E-448F-80A0-D206B6B100E1}" type="slidenum">
              <a:rPr kumimoji="1" lang="ja-JP" altLang="en-US" sz="1600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defTabSz="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763" indent="223838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763" indent="223838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763" indent="223838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4763" indent="223838" algn="r" defTabSz="0" rtl="0" eaLnBrk="0" fontAlgn="base" latinLnBrk="1" hangingPunct="0">
        <a:lnSpc>
          <a:spcPct val="0"/>
        </a:lnSpc>
        <a:spcBef>
          <a:spcPct val="20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1D64F-C161-782F-B20D-9EB90498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6">
            <a:extLst>
              <a:ext uri="{FF2B5EF4-FFF2-40B4-BE49-F238E27FC236}">
                <a16:creationId xmlns:a16="http://schemas.microsoft.com/office/drawing/2014/main" id="{63055342-116A-4B6D-5B9C-A7B1D5CE9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63500"/>
            <a:ext cx="5997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000000"/>
                </a:solidFill>
              </a:rPr>
              <a:t>Current Yield Status – SN AOI Machine</a:t>
            </a:r>
            <a:endParaRPr lang="en-US" altLang="en-US" dirty="0"/>
          </a:p>
        </p:txBody>
      </p:sp>
      <p:sp>
        <p:nvSpPr>
          <p:cNvPr id="3075" name="TextBox 9">
            <a:extLst>
              <a:ext uri="{FF2B5EF4-FFF2-40B4-BE49-F238E27FC236}">
                <a16:creationId xmlns:a16="http://schemas.microsoft.com/office/drawing/2014/main" id="{AD08BB64-92E9-8F9B-7606-FD977ADC4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488950"/>
            <a:ext cx="43465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MY" altLang="en-US" sz="1400" b="1"/>
              <a:t>MARUWA JAPAN</a:t>
            </a:r>
          </a:p>
        </p:txBody>
      </p:sp>
      <p:pic>
        <p:nvPicPr>
          <p:cNvPr id="3" name="Picture 2" descr="A screenshot of a machine&#10;&#10;AI-generated content may be incorrect.">
            <a:extLst>
              <a:ext uri="{FF2B5EF4-FFF2-40B4-BE49-F238E27FC236}">
                <a16:creationId xmlns:a16="http://schemas.microsoft.com/office/drawing/2014/main" id="{39BC4786-52D3-DACA-B05F-CB9242E75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39" t="5837" r="414"/>
          <a:stretch>
            <a:fillRect/>
          </a:stretch>
        </p:blipFill>
        <p:spPr>
          <a:xfrm>
            <a:off x="220663" y="717855"/>
            <a:ext cx="2674210" cy="2711145"/>
          </a:xfrm>
          <a:prstGeom prst="rect">
            <a:avLst/>
          </a:prstGeom>
        </p:spPr>
      </p:pic>
      <p:pic>
        <p:nvPicPr>
          <p:cNvPr id="7" name="Picture 6" descr="A screenshot of a machine&#10;&#10;AI-generated content may be incorrect.">
            <a:extLst>
              <a:ext uri="{FF2B5EF4-FFF2-40B4-BE49-F238E27FC236}">
                <a16:creationId xmlns:a16="http://schemas.microsoft.com/office/drawing/2014/main" id="{53758641-0A16-FC14-84DB-123C014A5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35764"/>
            <a:ext cx="3408625" cy="28210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1C2050-1287-C404-1E3B-96B8DEFE37C0}"/>
              </a:ext>
            </a:extLst>
          </p:cNvPr>
          <p:cNvSpPr txBox="1"/>
          <p:nvPr/>
        </p:nvSpPr>
        <p:spPr>
          <a:xfrm>
            <a:off x="7582677" y="983235"/>
            <a:ext cx="41736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u="sng" dirty="0">
                <a:latin typeface="+mn-lt"/>
              </a:rPr>
              <a:t>Target AOI Yield – Action item</a:t>
            </a:r>
          </a:p>
          <a:p>
            <a:endParaRPr lang="en-MY" sz="2400" b="1" u="sng" dirty="0">
              <a:latin typeface="+mn-lt"/>
              <a:sym typeface="Wingdings" panose="05000000000000000000" pitchFamily="2" charset="2"/>
            </a:endParaRPr>
          </a:p>
          <a:p>
            <a:r>
              <a:rPr lang="en-MY" sz="2400" b="1" dirty="0">
                <a:latin typeface="+mn-lt"/>
                <a:sym typeface="Wingdings" panose="05000000000000000000" pitchFamily="2" charset="2"/>
              </a:rPr>
              <a:t>Jan/04               75%</a:t>
            </a:r>
          </a:p>
          <a:p>
            <a:r>
              <a:rPr lang="en-MY" sz="2400" b="1" dirty="0">
                <a:latin typeface="+mn-lt"/>
                <a:sym typeface="Wingdings" panose="05000000000000000000" pitchFamily="2" charset="2"/>
              </a:rPr>
              <a:t>Jan/12               80%</a:t>
            </a:r>
          </a:p>
          <a:p>
            <a:r>
              <a:rPr lang="en-MY" sz="2400" b="1" dirty="0">
                <a:latin typeface="+mn-lt"/>
                <a:sym typeface="Wingdings" panose="05000000000000000000" pitchFamily="2" charset="2"/>
              </a:rPr>
              <a:t>Jan/20               85%</a:t>
            </a:r>
          </a:p>
          <a:p>
            <a:r>
              <a:rPr lang="en-MY" sz="2400" b="1" dirty="0">
                <a:latin typeface="+mn-lt"/>
                <a:sym typeface="Wingdings" panose="05000000000000000000" pitchFamily="2" charset="2"/>
              </a:rPr>
              <a:t>Jan/26              90%</a:t>
            </a:r>
          </a:p>
          <a:p>
            <a:endParaRPr lang="en-MY" sz="2400" b="1" dirty="0">
              <a:latin typeface="+mn-lt"/>
              <a:sym typeface="Wingdings" panose="05000000000000000000" pitchFamily="2" charset="2"/>
            </a:endParaRPr>
          </a:p>
          <a:p>
            <a:r>
              <a:rPr lang="en-MY" sz="2400" b="1" dirty="0">
                <a:latin typeface="+mn-lt"/>
                <a:sym typeface="Wingdings" panose="05000000000000000000" pitchFamily="2" charset="2"/>
              </a:rPr>
              <a:t>Target : Jan’26  90%</a:t>
            </a:r>
          </a:p>
        </p:txBody>
      </p:sp>
      <p:pic>
        <p:nvPicPr>
          <p:cNvPr id="2" name="Picture 1" descr="A screenshot of a chart&#10;&#10;AI-generated content may be incorrect.">
            <a:extLst>
              <a:ext uri="{FF2B5EF4-FFF2-40B4-BE49-F238E27FC236}">
                <a16:creationId xmlns:a16="http://schemas.microsoft.com/office/drawing/2014/main" id="{B11893B0-C9BE-F685-E82F-2152A86F7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544" y="717854"/>
            <a:ext cx="2619112" cy="2711145"/>
          </a:xfrm>
          <a:prstGeom prst="rect">
            <a:avLst/>
          </a:prstGeom>
        </p:spPr>
      </p:pic>
      <p:pic>
        <p:nvPicPr>
          <p:cNvPr id="4" name="Picture 3" descr="A screenshot of a machine&#10;&#10;AI-generated content may be incorrect.">
            <a:extLst>
              <a:ext uri="{FF2B5EF4-FFF2-40B4-BE49-F238E27FC236}">
                <a16:creationId xmlns:a16="http://schemas.microsoft.com/office/drawing/2014/main" id="{D00AC1F9-5FC8-9DEF-CA60-597CCBA47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238" y="3854885"/>
            <a:ext cx="3215732" cy="260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4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73F5-B632-7D72-D0B0-1CE23FFB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6">
            <a:extLst>
              <a:ext uri="{FF2B5EF4-FFF2-40B4-BE49-F238E27FC236}">
                <a16:creationId xmlns:a16="http://schemas.microsoft.com/office/drawing/2014/main" id="{354BDFCB-49DE-4C30-7162-7C58412CB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249" y="0"/>
            <a:ext cx="66247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000000"/>
                </a:solidFill>
              </a:rPr>
              <a:t>SN AOI Machine Performance Meeting Minutes   19/Jan </a:t>
            </a: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EFB0A8-87AB-942C-DFA2-D3180ED8B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6" y="522514"/>
            <a:ext cx="12027159" cy="598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403753"/>
      </p:ext>
    </p:extLst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BFD7F6"/>
      </a:accent5>
      <a:accent6>
        <a:srgbClr val="AE4845"/>
      </a:accent6>
      <a:hlink>
        <a:srgbClr val="0066CC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>
            <a:lumMod val="20000"/>
            <a:lumOff val="8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sz="18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defRPr kumimoji="1" dirty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BFD7F6"/>
      </a:accent5>
      <a:accent6>
        <a:srgbClr val="AE4845"/>
      </a:accent6>
      <a:hlink>
        <a:srgbClr val="0066CC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48823</TotalTime>
  <Pages>0</Pages>
  <Words>54</Words>
  <Characters>0</Characters>
  <Application>Microsoft Office PowerPoint</Application>
  <DocSecurity>0</DocSecurity>
  <PresentationFormat>Widescreen</PresentationFormat>
  <Lines>0</Lines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Meiryo UI</vt:lpstr>
      <vt:lpstr>Arial</vt:lpstr>
      <vt:lpstr>2_Default Design</vt:lpstr>
      <vt:lpstr>PowerPoint Presentation</vt:lpstr>
      <vt:lpstr>PowerPoint Presentation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shafiqah</dc:creator>
  <cp:keywords/>
  <dc:description/>
  <cp:lastModifiedBy>harrish</cp:lastModifiedBy>
  <cp:revision>1379</cp:revision>
  <cp:lastPrinted>2025-11-25T10:49:37Z</cp:lastPrinted>
  <dcterms:created xsi:type="dcterms:W3CDTF">2020-06-02T08:35:00Z</dcterms:created>
  <dcterms:modified xsi:type="dcterms:W3CDTF">2025-12-20T05:52:21Z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1033-9.1.0.4550</vt:lpwstr>
  </property>
</Properties>
</file>