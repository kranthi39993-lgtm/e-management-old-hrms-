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9"/>
  </p:notesMasterIdLst>
  <p:sldIdLst>
    <p:sldId id="771" r:id="rId3"/>
    <p:sldId id="788" r:id="rId4"/>
    <p:sldId id="793" r:id="rId5"/>
    <p:sldId id="794" r:id="rId6"/>
    <p:sldId id="800" r:id="rId7"/>
    <p:sldId id="795" r:id="rId8"/>
    <p:sldId id="796" r:id="rId9"/>
    <p:sldId id="801" r:id="rId10"/>
    <p:sldId id="789" r:id="rId11"/>
    <p:sldId id="797" r:id="rId12"/>
    <p:sldId id="798" r:id="rId13"/>
    <p:sldId id="799" r:id="rId14"/>
    <p:sldId id="802" r:id="rId15"/>
    <p:sldId id="791" r:id="rId16"/>
    <p:sldId id="792" r:id="rId17"/>
    <p:sldId id="803" r:id="rId18"/>
  </p:sldIdLst>
  <p:sldSz cx="9144000" cy="6858000" type="screen4x3"/>
  <p:notesSz cx="9866313" cy="67357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>
          <p15:clr>
            <a:srgbClr val="A4A3A4"/>
          </p15:clr>
        </p15:guide>
        <p15:guide id="2" pos="28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104" y="54"/>
      </p:cViewPr>
      <p:guideLst>
        <p:guide orient="horz" pos="2134"/>
        <p:guide pos="2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4997" cy="4499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96E3D2-DEB9-44A0-AED0-B75FC94F47EF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4227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E758751-CD58-4438-BA4B-8C77DFC1D18D}"/>
              </a:ext>
            </a:extLst>
          </p:cNvPr>
          <p:cNvSpPr>
            <a:spLocks noGrp="1" noChangeArrowheads="1"/>
          </p:cNvSpPr>
          <p:nvPr>
            <p:ph type="dt" idx="4294967295"/>
          </p:nvPr>
        </p:nvSpPr>
        <p:spPr bwMode="auto">
          <a:xfrm>
            <a:off x="5568950" y="0"/>
            <a:ext cx="4246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391A695-6D6E-4A3D-A111-4987035A4E5D}" type="datetime1">
              <a:rPr lang="en-US" altLang="en-US"/>
              <a:pPr>
                <a:defRPr/>
              </a:pPr>
              <a:t>18-Sep-18</a:t>
            </a:fld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ACF98F7-A33B-45C2-A3C9-C13EAF19B733}"/>
              </a:ext>
            </a:extLst>
          </p:cNvPr>
          <p:cNvSpPr>
            <a:spLocks noGrp="1" noChangeArrowheads="1"/>
          </p:cNvSpPr>
          <p:nvPr>
            <p:ph type="sldImg" idx="4294967295"/>
          </p:nvPr>
        </p:nvSpPr>
        <p:spPr bwMode="auto">
          <a:xfrm>
            <a:off x="1392238" y="517525"/>
            <a:ext cx="7134225" cy="249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C801B1FD-6F59-4413-9C2A-5F29DACE6CF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1331913" y="3225800"/>
            <a:ext cx="7254875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2C738EC6-9C80-4AF1-B117-02F67F0BD19D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394450"/>
            <a:ext cx="4227513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B75FC28C-D485-446F-AB1A-E677B6E3A7E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568950" y="6394450"/>
            <a:ext cx="4246563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3503871-196F-439F-9BAF-BCB4974BEE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0CFA-E5CC-4012-931D-798175838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42AE9-1CC3-4317-AD76-65A1AB9B7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3346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FF32-F01C-4FE7-B0A2-8057A7840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3AC76-332B-4A8E-81F8-B7192DDF8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307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6847-51D6-4BD3-B305-0090EB69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2F420-D7DF-413C-BB31-BD8E6A0CC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698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E73E-4816-47E9-92E9-EA6BDC98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EAF99-B5F2-4786-80C9-CF209139A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582C6-4E16-4A1A-9EFF-F6E852731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707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2314-0ADC-4549-B5F9-7AA03807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FB9E8-598E-4F1F-865A-C8D89CA3D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E0E7B-AB55-4A9C-8E6A-B63B79F02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9E476-D2D3-453E-8A58-6346EB5D1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E068C-3AE4-423F-8E4F-F683B7DD3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76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625B-29E7-48E0-897F-C452B2817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56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416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F9C6-C077-4B5D-86FF-0240F17E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DE09-3151-406E-AB4E-40D8A480F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99147-36AF-4043-954F-A53966FBB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767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1892-C131-4D84-8B0A-E9BA7AAC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46A07-A00D-4FBB-AB0D-675432F34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E2C91-7B6B-49BB-AF35-9C14397D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9578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19E-7713-45C6-9955-DF280009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91208-7F1F-47BA-8189-B2233B35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278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2E7E40-789A-4715-9D20-D2A0A0E2C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81B0C-B605-4A59-965F-E0F975174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7256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5AAD-76E9-4E33-A0B4-DDD57AAEE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A9E7B9E-071A-4787-84F3-DD580706EF26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58820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6F56-69B3-4B48-A67A-3FB8CD5D2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B76D7-A3F9-4026-882D-67B6A9319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0139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A74E-DAE8-4905-B9B0-0703399FD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4E507-0AEE-46EC-ADBA-021E96B28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012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1562-079B-4D61-A650-992501B3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E7F26-FFFF-4F97-9EEE-837C2CBF1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482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31BB-6515-4B8D-A957-0089B296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7EA5-9A94-40D8-904E-5CA101E35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49264-67CD-446C-AE13-5BBACCF4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3319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DED6-DC31-4C1C-8701-91B3C180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0130B-A908-478E-B574-E9AFF8EB4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4579-8B0D-4727-BA5F-73B19BA10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B283A-B465-4DD9-99CD-16D81F074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AF795-31CC-4E04-9944-0DF762A7E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3435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17DB-08D4-45D0-9B68-89E8D026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8229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268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4D75B-E346-45A7-951F-51AC7F38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3E18-B56F-4D3B-874E-FA82A05DA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238DA-7711-45B3-9628-6B2D4701E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12940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EF1F-2287-48D6-A6D5-C0CFE826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92630-E673-4BCA-AACF-7F6CB25E3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8754E-33BB-4FE5-914A-D929EE30E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8295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B421-C30A-4292-AEDC-BB74A704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6677C-0FD4-48CD-A90D-A33F00E37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16838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D85AF-ED01-4173-8BDE-3440D6D90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C6A0A-A1C5-4524-AFB9-0C3061E3C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67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3">
            <a:extLst>
              <a:ext uri="{FF2B5EF4-FFF2-40B4-BE49-F238E27FC236}">
                <a16:creationId xmlns:a16="http://schemas.microsoft.com/office/drawing/2014/main" id="{0346A176-8291-4475-B22F-5B1130AE85D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6700" y="533400"/>
            <a:ext cx="86868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Line 4">
            <a:extLst>
              <a:ext uri="{FF2B5EF4-FFF2-40B4-BE49-F238E27FC236}">
                <a16:creationId xmlns:a16="http://schemas.microsoft.com/office/drawing/2014/main" id="{8DC9467C-752B-4FB2-8AAA-80578F5F7F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6700" y="6477000"/>
            <a:ext cx="86868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89D0A93C-86B6-48D0-8A58-EA00FEE875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050" y="9525"/>
            <a:ext cx="1349375" cy="22383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b="1">
                <a:solidFill>
                  <a:srgbClr val="FF0000"/>
                </a:solidFill>
                <a:ea typeface="MS PGothic" panose="020B0600070205080204" pitchFamily="34" charset="-128"/>
              </a:rPr>
              <a:t>CONFIDENTIAL</a:t>
            </a:r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F5772630-1132-48EB-8EE5-EF0CDE470C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0975" y="6464300"/>
            <a:ext cx="2768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en-US" sz="1000" b="1">
                <a:solidFill>
                  <a:srgbClr val="0000FF"/>
                </a:solidFill>
                <a:ea typeface="MS PGothic" panose="020B0600070205080204" pitchFamily="34" charset="-128"/>
              </a:rPr>
              <a:t>MARUWA (MALAYSIA) SDN. BHD</a:t>
            </a:r>
          </a:p>
        </p:txBody>
      </p:sp>
      <p:pic>
        <p:nvPicPr>
          <p:cNvPr id="1030" name="Picture 3990">
            <a:extLst>
              <a:ext uri="{FF2B5EF4-FFF2-40B4-BE49-F238E27FC236}">
                <a16:creationId xmlns:a16="http://schemas.microsoft.com/office/drawing/2014/main" id="{0C8EF3CF-5D2D-4868-956E-928727DB7D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100013"/>
            <a:ext cx="16764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3">
            <a:extLst>
              <a:ext uri="{FF2B5EF4-FFF2-40B4-BE49-F238E27FC236}">
                <a16:creationId xmlns:a16="http://schemas.microsoft.com/office/drawing/2014/main" id="{7A7F1514-A556-4D05-9F89-0905F09CD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" y="533400"/>
            <a:ext cx="86868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" name="Line 4">
            <a:extLst>
              <a:ext uri="{FF2B5EF4-FFF2-40B4-BE49-F238E27FC236}">
                <a16:creationId xmlns:a16="http://schemas.microsoft.com/office/drawing/2014/main" id="{4A6C13C8-3BBB-420D-9CD1-D4CD27DA0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" y="6477000"/>
            <a:ext cx="86868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" name="Rectangle 5">
            <a:extLst>
              <a:ext uri="{FF2B5EF4-FFF2-40B4-BE49-F238E27FC236}">
                <a16:creationId xmlns:a16="http://schemas.microsoft.com/office/drawing/2014/main" id="{FB5C4545-55E4-457C-90A5-20480CE2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9525"/>
            <a:ext cx="1349375" cy="22383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lang="ja-JP" altLang="en-US" sz="1000" b="1">
                <a:solidFill>
                  <a:srgbClr val="FF0000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CONFIDENTIAL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  <a:sym typeface="Times New Roman" panose="02020603050405020304" pitchFamily="18" charset="0"/>
            </a:endParaRPr>
          </a:p>
        </p:txBody>
      </p:sp>
      <p:sp>
        <p:nvSpPr>
          <p:cNvPr id="2053" name="Text Box 7">
            <a:extLst>
              <a:ext uri="{FF2B5EF4-FFF2-40B4-BE49-F238E27FC236}">
                <a16:creationId xmlns:a16="http://schemas.microsoft.com/office/drawing/2014/main" id="{AA1AAFBA-CAD3-4424-A0E8-027A9DD0B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464300"/>
            <a:ext cx="2768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0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MARUWA (MALAYSIA) SDN. BHD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  <a:sym typeface="Times New Roman" panose="02020603050405020304" pitchFamily="18" charset="0"/>
            </a:endParaRPr>
          </a:p>
        </p:txBody>
      </p:sp>
      <p:pic>
        <p:nvPicPr>
          <p:cNvPr id="2054" name="Picture 3990">
            <a:extLst>
              <a:ext uri="{FF2B5EF4-FFF2-40B4-BE49-F238E27FC236}">
                <a16:creationId xmlns:a16="http://schemas.microsoft.com/office/drawing/2014/main" id="{AB70E28D-C0F4-47D1-BB82-59F86D775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100013"/>
            <a:ext cx="16764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5">
            <a:extLst>
              <a:ext uri="{FF2B5EF4-FFF2-40B4-BE49-F238E27FC236}">
                <a16:creationId xmlns:a16="http://schemas.microsoft.com/office/drawing/2014/main" id="{32710446-F983-4077-88F8-42F603F0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14350"/>
            <a:ext cx="304800" cy="5991225"/>
          </a:xfrm>
          <a:prstGeom prst="rect">
            <a:avLst/>
          </a:prstGeom>
          <a:gradFill rotWithShape="0">
            <a:gsLst>
              <a:gs pos="0">
                <a:srgbClr val="6D6C67"/>
              </a:gs>
              <a:gs pos="50000">
                <a:schemeClr val="bg2"/>
              </a:gs>
              <a:gs pos="100000">
                <a:srgbClr val="6D6C6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195" name="Rectangle 10">
            <a:extLst>
              <a:ext uri="{FF2B5EF4-FFF2-40B4-BE49-F238E27FC236}">
                <a16:creationId xmlns:a16="http://schemas.microsoft.com/office/drawing/2014/main" id="{05C620FD-BB4F-4081-9C04-C12E7E3C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514350"/>
            <a:ext cx="288925" cy="5991225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50000">
                <a:srgbClr val="4343FF"/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100" name="Text Box 5">
            <a:extLst>
              <a:ext uri="{FF2B5EF4-FFF2-40B4-BE49-F238E27FC236}">
                <a16:creationId xmlns:a16="http://schemas.microsoft.com/office/drawing/2014/main" id="{F76CDBB2-45C0-45F8-BC47-276213F63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786438"/>
            <a:ext cx="43926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en-US" b="1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73D9753D-A39B-406F-B7E6-A04E89F41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140335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ECN</a:t>
            </a:r>
          </a:p>
        </p:txBody>
      </p:sp>
      <p:sp>
        <p:nvSpPr>
          <p:cNvPr id="4102" name="Rectangle 14">
            <a:extLst>
              <a:ext uri="{FF2B5EF4-FFF2-40B4-BE49-F238E27FC236}">
                <a16:creationId xmlns:a16="http://schemas.microsoft.com/office/drawing/2014/main" id="{60263E8E-7790-4025-B3B5-D8CFC80E5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987425"/>
            <a:ext cx="8382000" cy="26670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CERAMIC VALVE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CHANGER Co Ltd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AUTO VISUAL INSPECTION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03" name="Text Box 3">
            <a:extLst>
              <a:ext uri="{FF2B5EF4-FFF2-40B4-BE49-F238E27FC236}">
                <a16:creationId xmlns:a16="http://schemas.microsoft.com/office/drawing/2014/main" id="{CC36D9DB-926B-41DE-8A1D-F2D71E776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994400"/>
            <a:ext cx="3516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250" tIns="47625" rIns="95250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DATE : 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11</a:t>
            </a:r>
            <a:r>
              <a:rPr lang="en-US" altLang="en-US" sz="1600" b="1" baseline="30000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th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SEPT 2018</a:t>
            </a: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8575F8E-98F1-4511-AB4B-54373DE17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EC74EED9-F867-4AC1-9EAB-DD2EA8F6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CERAMIC VALVE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5908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Visit details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Members : 	Mr </a:t>
            </a:r>
            <a:r>
              <a:rPr lang="en-US" sz="1800" dirty="0" err="1">
                <a:ea typeface="+mn-ea"/>
              </a:rPr>
              <a:t>Azham</a:t>
            </a:r>
            <a:r>
              <a:rPr lang="en-US" sz="1800" dirty="0">
                <a:ea typeface="+mn-ea"/>
              </a:rPr>
              <a:t> (CV HOD)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		Mr </a:t>
            </a:r>
            <a:r>
              <a:rPr lang="en-US" sz="1800" dirty="0" err="1">
                <a:ea typeface="+mn-ea"/>
              </a:rPr>
              <a:t>Eruan</a:t>
            </a:r>
            <a:r>
              <a:rPr lang="en-US" sz="1800" dirty="0">
                <a:ea typeface="+mn-ea"/>
              </a:rPr>
              <a:t> (FMD)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		Mr Siva (QA)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Supplier : </a:t>
            </a:r>
            <a:r>
              <a:rPr lang="en-US" sz="1800" dirty="0" err="1">
                <a:ea typeface="+mn-ea"/>
              </a:rPr>
              <a:t>Chernger</a:t>
            </a:r>
            <a:r>
              <a:rPr lang="en-US" sz="1800" dirty="0">
                <a:ea typeface="+mn-ea"/>
              </a:rPr>
              <a:t> Tech Co Ltd Mr Liu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Date : 11</a:t>
            </a:r>
            <a:r>
              <a:rPr lang="en-US" sz="1800" baseline="30000" dirty="0">
                <a:ea typeface="+mn-ea"/>
              </a:rPr>
              <a:t>th</a:t>
            </a:r>
            <a:r>
              <a:rPr lang="en-US" sz="1800" dirty="0">
                <a:ea typeface="+mn-ea"/>
              </a:rPr>
              <a:t> Sept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Agenda discussion</a:t>
            </a:r>
          </a:p>
          <a:p>
            <a:pPr marL="457200" indent="-4572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sz="1800" dirty="0">
                <a:ea typeface="+mn-ea"/>
              </a:rPr>
              <a:t>UPH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	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Mixing &amp; Single </a:t>
            </a:r>
            <a:r>
              <a:rPr lang="en-US" sz="1800" dirty="0">
                <a:solidFill>
                  <a:srgbClr val="002060"/>
                </a:solidFill>
                <a:ea typeface="+mn-ea"/>
                <a:sym typeface="Wingdings" panose="05000000000000000000" pitchFamily="2" charset="2"/>
              </a:rPr>
              <a:t> 1sec/pc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ea typeface="+mn-ea"/>
                <a:sym typeface="Wingdings" panose="05000000000000000000" pitchFamily="2" charset="2"/>
              </a:rPr>
              <a:t>Total : 43.2K/day (24hrs operation)               Required mc : 2unit  for 80kpcs/day</a:t>
            </a:r>
            <a:endParaRPr lang="en-US" sz="1800" dirty="0"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2. Machine operation – Detail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Safety –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Standard safety features included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Maintenance –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5years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guranttee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with 24hrs operation. Lighting life is 42000hrs (3 ~ 5 years)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Manual (Software &amp; hardware) –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will provide as per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maruwa’s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requirement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3. Sample result verification (Previous &amp; new sample)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ea typeface="+mn-ea"/>
              </a:rPr>
              <a:t>Initial sample – pass and able to detect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ea typeface="+mn-ea"/>
              </a:rPr>
              <a:t>2</a:t>
            </a:r>
            <a:r>
              <a:rPr lang="en-US" sz="1800" baseline="30000" dirty="0">
                <a:solidFill>
                  <a:srgbClr val="002060"/>
                </a:solidFill>
                <a:ea typeface="+mn-ea"/>
              </a:rPr>
              <a:t>nd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sample – concentrate more to critical sample with severe defect (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inlap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). Supplier need to fine tune the camera for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detetction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. Supplier will feedback on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mondat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17</a:t>
            </a:r>
            <a:r>
              <a:rPr lang="en-US" sz="1800" baseline="30000" dirty="0">
                <a:solidFill>
                  <a:srgbClr val="002060"/>
                </a:solidFill>
                <a:ea typeface="+mn-ea"/>
              </a:rPr>
              <a:t>th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Sept</a:t>
            </a:r>
            <a:endParaRPr lang="en-US" sz="1800" dirty="0">
              <a:ea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8C1EA2-3F54-446F-AB39-93F3F0597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A5D5D5C1-A467-42B9-A8B9-050DB8666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CERAMIC VALVE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5078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4. Result storage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Image storage 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Running qty - linkage to PC system (server)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Machine program coding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Data storage mode – SQL format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002060"/>
                </a:solidFill>
                <a:ea typeface="+mn-ea"/>
              </a:rPr>
              <a:t>Supplier able to comply with </a:t>
            </a:r>
            <a:r>
              <a:rPr lang="en-US" sz="1800" b="1" dirty="0" err="1">
                <a:solidFill>
                  <a:srgbClr val="002060"/>
                </a:solidFill>
                <a:ea typeface="+mn-ea"/>
              </a:rPr>
              <a:t>Maruwa’s</a:t>
            </a:r>
            <a:r>
              <a:rPr lang="en-US" sz="1800" b="1" dirty="0">
                <a:solidFill>
                  <a:srgbClr val="002060"/>
                </a:solidFill>
                <a:ea typeface="+mn-ea"/>
              </a:rPr>
              <a:t> requirement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5. After sales service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Warranty –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1 year on all parts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Support via remote - 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After 1</a:t>
            </a:r>
            <a:r>
              <a:rPr lang="en-US" sz="1800" baseline="30000" dirty="0">
                <a:solidFill>
                  <a:srgbClr val="002060"/>
                </a:solidFill>
                <a:ea typeface="+mn-ea"/>
              </a:rPr>
              <a:t>st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year, quarterly visit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witgh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minimum charges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6. Re-verify additional NG sample result –to confirm the effectiveness of the measurement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SAME AS ITEM #3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7. Pricing &amp; Payment term</a:t>
            </a:r>
          </a:p>
          <a:p>
            <a:pPr eaLnBrk="1" hangingPunct="1">
              <a:defRPr/>
            </a:pPr>
            <a:r>
              <a:rPr lang="en-US" sz="1800" dirty="0" err="1">
                <a:solidFill>
                  <a:srgbClr val="002060"/>
                </a:solidFill>
                <a:ea typeface="+mn-ea"/>
              </a:rPr>
              <a:t>Quoation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will revise with additional of pick &amp; place for NG removal from tray (Robotic arm)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8. Lead time for delivery – 3 ~ 4 months. MM team requested for 6 ~ 8 weeks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AE35481-CA17-4E9C-B3CA-CD128FC8E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D3FD6A69-3857-4007-A60B-D0B692A3D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CERAMIC VALVE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42465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Activity by Maruwa Malaysia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Provide tray design for visual inspection machine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Product matrix for high volume runner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PIC ; Mr </a:t>
            </a:r>
            <a:r>
              <a:rPr lang="en-US" sz="1800" dirty="0" err="1">
                <a:ea typeface="+mn-ea"/>
              </a:rPr>
              <a:t>Azham</a:t>
            </a:r>
            <a:r>
              <a:rPr lang="en-US" sz="1800" dirty="0">
                <a:ea typeface="+mn-ea"/>
              </a:rPr>
              <a:t>	Date : 21</a:t>
            </a:r>
            <a:r>
              <a:rPr lang="en-US" sz="1800" baseline="30000" dirty="0">
                <a:ea typeface="+mn-ea"/>
              </a:rPr>
              <a:t>st</a:t>
            </a:r>
            <a:r>
              <a:rPr lang="en-US" sz="1800" dirty="0">
                <a:ea typeface="+mn-ea"/>
              </a:rPr>
              <a:t> Sept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c. Data linkage to Maruwa server/PC system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Pic : Siva 	Date : 21</a:t>
            </a:r>
            <a:r>
              <a:rPr lang="en-US" sz="1800" baseline="30000" dirty="0">
                <a:ea typeface="+mn-ea"/>
              </a:rPr>
              <a:t>st</a:t>
            </a:r>
            <a:r>
              <a:rPr lang="en-US" sz="1800" dirty="0">
                <a:ea typeface="+mn-ea"/>
              </a:rPr>
              <a:t> Sept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Conclusion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The working committee propose to proceed with this project. Pending for no of unit will be discuss with management.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Current concentration will be for 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High volume mixing valve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Single valve – 100% visual auto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The slow runner product – manual inspection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8F40B79-4F07-443E-BD2A-AAB9508F2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14534F7F-058D-42C1-90A7-C32B14893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CERAMIC VALVE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681038"/>
            <a:ext cx="300831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Images of the supplier visit</a:t>
            </a:r>
          </a:p>
        </p:txBody>
      </p:sp>
      <p:pic>
        <p:nvPicPr>
          <p:cNvPr id="8197" name="Picture 3">
            <a:extLst>
              <a:ext uri="{FF2B5EF4-FFF2-40B4-BE49-F238E27FC236}">
                <a16:creationId xmlns:a16="http://schemas.microsoft.com/office/drawing/2014/main" id="{9CA035FD-73A8-44C1-96BB-C432B1678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49338"/>
            <a:ext cx="2170113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5">
            <a:extLst>
              <a:ext uri="{FF2B5EF4-FFF2-40B4-BE49-F238E27FC236}">
                <a16:creationId xmlns:a16="http://schemas.microsoft.com/office/drawing/2014/main" id="{CD165E5D-7789-4FF5-89D6-FB4BF2C34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3278188"/>
            <a:ext cx="2170113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>
            <a:extLst>
              <a:ext uri="{FF2B5EF4-FFF2-40B4-BE49-F238E27FC236}">
                <a16:creationId xmlns:a16="http://schemas.microsoft.com/office/drawing/2014/main" id="{D31B1FDF-9371-40CD-BA98-7FFBAF73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039813"/>
            <a:ext cx="2171700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9">
            <a:extLst>
              <a:ext uri="{FF2B5EF4-FFF2-40B4-BE49-F238E27FC236}">
                <a16:creationId xmlns:a16="http://schemas.microsoft.com/office/drawing/2014/main" id="{78F4B009-6790-49C2-922A-53B908FD7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3313113"/>
            <a:ext cx="2170112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11">
            <a:extLst>
              <a:ext uri="{FF2B5EF4-FFF2-40B4-BE49-F238E27FC236}">
                <a16:creationId xmlns:a16="http://schemas.microsoft.com/office/drawing/2014/main" id="{BB4C262A-5F69-4D46-91BD-78F12781E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450" y="1058863"/>
            <a:ext cx="217011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2" name="TextBox 12">
            <a:extLst>
              <a:ext uri="{FF2B5EF4-FFF2-40B4-BE49-F238E27FC236}">
                <a16:creationId xmlns:a16="http://schemas.microsoft.com/office/drawing/2014/main" id="{3524D0D2-18F5-46E2-9974-4C00BC990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913" y="6038850"/>
            <a:ext cx="3370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/>
              <a:t>CV VISUAL MACHINE </a:t>
            </a:r>
          </a:p>
        </p:txBody>
      </p:sp>
      <p:pic>
        <p:nvPicPr>
          <p:cNvPr id="8203" name="Picture 14">
            <a:extLst>
              <a:ext uri="{FF2B5EF4-FFF2-40B4-BE49-F238E27FC236}">
                <a16:creationId xmlns:a16="http://schemas.microsoft.com/office/drawing/2014/main" id="{6FB1C160-39E4-44AC-9A8B-1EEFE5F19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5" y="3313113"/>
            <a:ext cx="2857500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5">
            <a:extLst>
              <a:ext uri="{FF2B5EF4-FFF2-40B4-BE49-F238E27FC236}">
                <a16:creationId xmlns:a16="http://schemas.microsoft.com/office/drawing/2014/main" id="{32710446-F983-4077-88F8-42F603F0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14350"/>
            <a:ext cx="304800" cy="5991225"/>
          </a:xfrm>
          <a:prstGeom prst="rect">
            <a:avLst/>
          </a:prstGeom>
          <a:gradFill rotWithShape="0">
            <a:gsLst>
              <a:gs pos="0">
                <a:srgbClr val="6D6C67"/>
              </a:gs>
              <a:gs pos="50000">
                <a:schemeClr val="bg2"/>
              </a:gs>
              <a:gs pos="100000">
                <a:srgbClr val="6D6C6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8195" name="Rectangle 10">
            <a:extLst>
              <a:ext uri="{FF2B5EF4-FFF2-40B4-BE49-F238E27FC236}">
                <a16:creationId xmlns:a16="http://schemas.microsoft.com/office/drawing/2014/main" id="{05C620FD-BB4F-4081-9C04-C12E7E3C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514350"/>
            <a:ext cx="288925" cy="5991225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50000">
                <a:srgbClr val="4343FF"/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9220" name="Text Box 5">
            <a:extLst>
              <a:ext uri="{FF2B5EF4-FFF2-40B4-BE49-F238E27FC236}">
                <a16:creationId xmlns:a16="http://schemas.microsoft.com/office/drawing/2014/main" id="{C2464ECF-AB1C-48F8-B18C-9103BEB72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786438"/>
            <a:ext cx="43926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en-US" b="1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57343C71-0345-49FB-BB39-F0F92413F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140335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ECN</a:t>
            </a:r>
          </a:p>
        </p:txBody>
      </p:sp>
      <p:sp>
        <p:nvSpPr>
          <p:cNvPr id="9222" name="Rectangle 14">
            <a:extLst>
              <a:ext uri="{FF2B5EF4-FFF2-40B4-BE49-F238E27FC236}">
                <a16:creationId xmlns:a16="http://schemas.microsoft.com/office/drawing/2014/main" id="{66A8A0C0-0772-4584-A38F-20B67BB5D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987425"/>
            <a:ext cx="8382000" cy="26670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FERRITE MAGNET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CHERNGER Co Ltd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FM AUTO VISUAL INSPECTION</a:t>
            </a:r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223" name="Text Box 3">
            <a:extLst>
              <a:ext uri="{FF2B5EF4-FFF2-40B4-BE49-F238E27FC236}">
                <a16:creationId xmlns:a16="http://schemas.microsoft.com/office/drawing/2014/main" id="{D294DF24-9134-40C1-9ECF-8EFFF9F2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994400"/>
            <a:ext cx="3516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250" tIns="47625" rIns="95250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DATE : 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11</a:t>
            </a:r>
            <a:r>
              <a:rPr lang="en-US" altLang="en-US" sz="1600" b="1" baseline="30000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th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SEPT 2018</a:t>
            </a: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2E8D233-A794-4262-A716-4D11B7D1E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0977F443-212D-4C7A-AFF0-33C28E249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FERRRITE MAGNET–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5078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Visit details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Members : 	Mr </a:t>
            </a:r>
            <a:r>
              <a:rPr lang="en-US" sz="1800" dirty="0" err="1">
                <a:ea typeface="+mn-ea"/>
              </a:rPr>
              <a:t>Azham</a:t>
            </a:r>
            <a:r>
              <a:rPr lang="en-US" sz="1800" dirty="0">
                <a:ea typeface="+mn-ea"/>
              </a:rPr>
              <a:t> (CV HOD)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		Mr </a:t>
            </a:r>
            <a:r>
              <a:rPr lang="en-US" sz="1800" dirty="0" err="1">
                <a:ea typeface="+mn-ea"/>
              </a:rPr>
              <a:t>Eruan</a:t>
            </a:r>
            <a:r>
              <a:rPr lang="en-US" sz="1800" dirty="0">
                <a:ea typeface="+mn-ea"/>
              </a:rPr>
              <a:t> (FMD)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		Mr Siva (QA)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Supplier : </a:t>
            </a:r>
            <a:r>
              <a:rPr lang="en-US" sz="1800" dirty="0" err="1">
                <a:ea typeface="+mn-ea"/>
              </a:rPr>
              <a:t>Chernger</a:t>
            </a:r>
            <a:r>
              <a:rPr lang="en-US" sz="1800" dirty="0">
                <a:ea typeface="+mn-ea"/>
              </a:rPr>
              <a:t> Tech Co Ltd Mr Liu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Ferrite Magnet Visual machine was shown to the team for review. This machine was design for pun check but applicable for ferrite magnet product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Machine capability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</a:endParaRP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Dimension 100%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Visual all surface 100%</a:t>
            </a:r>
          </a:p>
          <a:p>
            <a:pPr eaLnBrk="1" hangingPunct="1">
              <a:defRPr/>
            </a:pPr>
            <a:endParaRPr lang="en-US" sz="1800" dirty="0"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Concept : Glass Turn table &amp; feeder bowl</a:t>
            </a:r>
          </a:p>
          <a:p>
            <a:pPr eaLnBrk="1" hangingPunct="1">
              <a:defRPr/>
            </a:pPr>
            <a:endParaRPr lang="en-US" sz="1800" dirty="0"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Current Action :</a:t>
            </a:r>
          </a:p>
          <a:p>
            <a:pPr marL="342900" indent="-342900" eaLnBrk="1" hangingPunct="1">
              <a:buFontTx/>
              <a:buAutoNum type="alphaLcPeriod"/>
              <a:defRPr/>
            </a:pPr>
            <a:r>
              <a:rPr lang="en-US" sz="1800" dirty="0">
                <a:ea typeface="+mn-ea"/>
              </a:rPr>
              <a:t>Supplied sample product for evaluation and 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will feedback to Maruwa on the status by 22</a:t>
            </a:r>
            <a:r>
              <a:rPr lang="en-US" sz="1800" baseline="30000" dirty="0">
                <a:ea typeface="+mn-ea"/>
              </a:rPr>
              <a:t>nd</a:t>
            </a:r>
            <a:r>
              <a:rPr lang="en-US" sz="1800" dirty="0">
                <a:ea typeface="+mn-ea"/>
              </a:rPr>
              <a:t> Sept  </a:t>
            </a:r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6646E778-C703-46CD-80FC-6A41C79FC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113" y="2722563"/>
            <a:ext cx="3425825" cy="394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6">
            <a:extLst>
              <a:ext uri="{FF2B5EF4-FFF2-40B4-BE49-F238E27FC236}">
                <a16:creationId xmlns:a16="http://schemas.microsoft.com/office/drawing/2014/main" id="{0CA0CF25-95DE-4431-AC45-DD72B3621EF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642100" y="6083300"/>
            <a:ext cx="1958975" cy="5842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1600">
                <a:solidFill>
                  <a:schemeClr val="bg1"/>
                </a:solidFill>
              </a:rPr>
              <a:t>Sample inspection machine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3">
            <a:extLst>
              <a:ext uri="{FF2B5EF4-FFF2-40B4-BE49-F238E27FC236}">
                <a16:creationId xmlns:a16="http://schemas.microsoft.com/office/drawing/2014/main" id="{0D46E2E9-8FB1-489C-B5F0-18197902A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558800"/>
            <a:ext cx="3606800" cy="480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>
            <a:extLst>
              <a:ext uri="{FF2B5EF4-FFF2-40B4-BE49-F238E27FC236}">
                <a16:creationId xmlns:a16="http://schemas.microsoft.com/office/drawing/2014/main" id="{4927B662-2B61-4098-8C82-908CA7964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424AE94A-179A-45D9-9FBA-1337AAECF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FERRITE MAGNET–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681038"/>
            <a:ext cx="300831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Images of the supplier visit</a:t>
            </a:r>
          </a:p>
        </p:txBody>
      </p:sp>
      <p:sp>
        <p:nvSpPr>
          <p:cNvPr id="11270" name="TextBox 12">
            <a:extLst>
              <a:ext uri="{FF2B5EF4-FFF2-40B4-BE49-F238E27FC236}">
                <a16:creationId xmlns:a16="http://schemas.microsoft.com/office/drawing/2014/main" id="{BE892DE2-95B6-4FF0-8F46-8028C7736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961063"/>
            <a:ext cx="7102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/>
              <a:t>FM VISUAL MACHINE FOR BB TYPE PRODUCT </a:t>
            </a:r>
          </a:p>
        </p:txBody>
      </p:sp>
      <p:pic>
        <p:nvPicPr>
          <p:cNvPr id="11271" name="Picture 4">
            <a:extLst>
              <a:ext uri="{FF2B5EF4-FFF2-40B4-BE49-F238E27FC236}">
                <a16:creationId xmlns:a16="http://schemas.microsoft.com/office/drawing/2014/main" id="{33859E7C-00B6-4BBD-B210-4C00BF0C5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068388"/>
            <a:ext cx="3606800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FFCF7BBB-C304-407A-AFC8-D7B0265A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538" y="2189163"/>
            <a:ext cx="2397125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5">
            <a:extLst>
              <a:ext uri="{FF2B5EF4-FFF2-40B4-BE49-F238E27FC236}">
                <a16:creationId xmlns:a16="http://schemas.microsoft.com/office/drawing/2014/main" id="{32710446-F983-4077-88F8-42F603F0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14350"/>
            <a:ext cx="304800" cy="5991225"/>
          </a:xfrm>
          <a:prstGeom prst="rect">
            <a:avLst/>
          </a:prstGeom>
          <a:gradFill rotWithShape="0">
            <a:gsLst>
              <a:gs pos="0">
                <a:srgbClr val="6D6C67"/>
              </a:gs>
              <a:gs pos="50000">
                <a:schemeClr val="bg2"/>
              </a:gs>
              <a:gs pos="100000">
                <a:srgbClr val="6D6C6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8195" name="Rectangle 10">
            <a:extLst>
              <a:ext uri="{FF2B5EF4-FFF2-40B4-BE49-F238E27FC236}">
                <a16:creationId xmlns:a16="http://schemas.microsoft.com/office/drawing/2014/main" id="{05C620FD-BB4F-4081-9C04-C12E7E3C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514350"/>
            <a:ext cx="288925" cy="5991225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50000">
                <a:srgbClr val="4343FF"/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id="{86211C31-C9C1-4272-8A20-1FEA1FF8F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786438"/>
            <a:ext cx="43926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en-US" b="1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8866ADBA-7FA2-4FA1-B2E7-8A32EB1C8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140335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ECN</a:t>
            </a:r>
          </a:p>
        </p:txBody>
      </p:sp>
      <p:sp>
        <p:nvSpPr>
          <p:cNvPr id="12294" name="Rectangle 14">
            <a:extLst>
              <a:ext uri="{FF2B5EF4-FFF2-40B4-BE49-F238E27FC236}">
                <a16:creationId xmlns:a16="http://schemas.microsoft.com/office/drawing/2014/main" id="{B24FF9AA-3334-40CF-8176-4F8C62BDC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987425"/>
            <a:ext cx="8382000" cy="26670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TPH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WINSTAR Technology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AUTO VISUAL INSPECTION</a:t>
            </a:r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12295" name="Text Box 3">
            <a:extLst>
              <a:ext uri="{FF2B5EF4-FFF2-40B4-BE49-F238E27FC236}">
                <a16:creationId xmlns:a16="http://schemas.microsoft.com/office/drawing/2014/main" id="{12D3853D-E712-4642-B7EB-7D43BCF4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994400"/>
            <a:ext cx="3516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250" tIns="47625" rIns="95250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DATE : 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11</a:t>
            </a:r>
            <a:r>
              <a:rPr lang="en-US" altLang="en-US" sz="1600" b="1" baseline="30000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th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SEPT 2018</a:t>
            </a: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11936B6-0C5A-4BBD-B7F6-3C1C75DC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E96655EC-8C64-4499-B099-91AA9D62B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TPH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53546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Visit details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Members : 	Mr Justin (TPH HOD)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		Mr </a:t>
            </a:r>
            <a:r>
              <a:rPr lang="en-US" sz="1800" dirty="0" err="1">
                <a:ea typeface="+mn-ea"/>
              </a:rPr>
              <a:t>Eruan</a:t>
            </a:r>
            <a:r>
              <a:rPr lang="en-US" sz="1800" dirty="0">
                <a:ea typeface="+mn-ea"/>
              </a:rPr>
              <a:t> (FMD)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		Mr Siva (QA)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Supplier : </a:t>
            </a:r>
            <a:r>
              <a:rPr lang="en-US" sz="1800" dirty="0" err="1">
                <a:ea typeface="+mn-ea"/>
              </a:rPr>
              <a:t>Winstar</a:t>
            </a:r>
            <a:r>
              <a:rPr lang="en-US" sz="1800" dirty="0">
                <a:ea typeface="+mn-ea"/>
              </a:rPr>
              <a:t> Tech Co Ltd Mr Zinn </a:t>
            </a:r>
            <a:r>
              <a:rPr lang="en-US" sz="1800" dirty="0" err="1">
                <a:ea typeface="+mn-ea"/>
              </a:rPr>
              <a:t>Ler</a:t>
            </a:r>
            <a:endParaRPr lang="en-US" sz="1800" dirty="0"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Date : 11</a:t>
            </a:r>
            <a:r>
              <a:rPr lang="en-US" sz="1800" baseline="30000" dirty="0">
                <a:ea typeface="+mn-ea"/>
              </a:rPr>
              <a:t>th</a:t>
            </a:r>
            <a:r>
              <a:rPr lang="en-US" sz="1800" dirty="0">
                <a:ea typeface="+mn-ea"/>
              </a:rPr>
              <a:t> Sept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Agenda discussion</a:t>
            </a:r>
          </a:p>
          <a:p>
            <a:pPr marL="457200" indent="-4572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sz="1800" dirty="0">
                <a:ea typeface="+mn-ea"/>
              </a:rPr>
              <a:t>UPH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	L Sub UPH : 3.5sec/pc     12hrs : 12.3kpcs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2. Machine operation – Detail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Safety –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Standard safety features included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Maintenance –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1years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guranttee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with 24hrs operation for all parts. Supplier will standby parts for any emergency use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Manual (Software &amp; hardware) –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will provide as per </a:t>
            </a:r>
            <a:r>
              <a:rPr lang="en-US" sz="1800" dirty="0" err="1">
                <a:solidFill>
                  <a:srgbClr val="002060"/>
                </a:solidFill>
                <a:ea typeface="+mn-ea"/>
              </a:rPr>
              <a:t>maruwa’s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requirement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3. Sample result verification (Previous &amp; new sample)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ea typeface="+mn-ea"/>
              </a:rPr>
              <a:t>Initial sample – pass and able to detect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ea typeface="+mn-ea"/>
              </a:rPr>
              <a:t>2</a:t>
            </a:r>
            <a:r>
              <a:rPr lang="en-US" sz="1800" baseline="30000" dirty="0">
                <a:solidFill>
                  <a:srgbClr val="002060"/>
                </a:solidFill>
                <a:ea typeface="+mn-ea"/>
              </a:rPr>
              <a:t>nd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sample – concentrate more on defect measurement and MM need to provide the defect matrix for supplier programming</a:t>
            </a:r>
            <a:endParaRPr lang="en-US" sz="1800" dirty="0">
              <a:ea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0D804A7-8F8C-4675-9F71-F184D3CA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88E30EA3-6DDD-4D5A-85E2-68E90FF45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TPH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4. Result storage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Image storage 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Running qty - linkage to PC system (server)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Machine program coding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Data storage mode – SQL format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002060"/>
                </a:solidFill>
                <a:ea typeface="+mn-ea"/>
              </a:rPr>
              <a:t>Supplier able to comply with </a:t>
            </a:r>
            <a:r>
              <a:rPr lang="en-US" sz="1800" b="1" dirty="0" err="1">
                <a:solidFill>
                  <a:srgbClr val="002060"/>
                </a:solidFill>
                <a:ea typeface="+mn-ea"/>
              </a:rPr>
              <a:t>Maruwa’s</a:t>
            </a:r>
            <a:r>
              <a:rPr lang="en-US" sz="1800" b="1" dirty="0">
                <a:solidFill>
                  <a:srgbClr val="002060"/>
                </a:solidFill>
                <a:ea typeface="+mn-ea"/>
              </a:rPr>
              <a:t> requirement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5. After sales service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Warranty –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1 year on all parts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Support via remote -  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able to do it and technical support will be carry by local from JB office</a:t>
            </a:r>
            <a:endParaRPr lang="en-US" sz="1800" dirty="0"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6. Pricing &amp; Payment term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ea typeface="+mn-ea"/>
              </a:rPr>
              <a:t>Quotation will revise with additional of loading station for input. Quotation submit by 14</a:t>
            </a:r>
            <a:r>
              <a:rPr lang="en-US" sz="1800" baseline="30000" dirty="0">
                <a:solidFill>
                  <a:srgbClr val="002060"/>
                </a:solidFill>
                <a:ea typeface="+mn-ea"/>
              </a:rPr>
              <a:t>th</a:t>
            </a:r>
            <a:r>
              <a:rPr lang="en-US" sz="1800" dirty="0">
                <a:solidFill>
                  <a:srgbClr val="002060"/>
                </a:solidFill>
                <a:ea typeface="+mn-ea"/>
              </a:rPr>
              <a:t> Sept</a:t>
            </a:r>
          </a:p>
          <a:p>
            <a:pPr eaLnBrk="1" hangingPunct="1">
              <a:defRPr/>
            </a:pPr>
            <a:endParaRPr lang="en-US" sz="1800" dirty="0">
              <a:solidFill>
                <a:srgbClr val="002060"/>
              </a:solidFill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8. Lead time for delivery – 3 ~ 4 months. MM team requested for 6 ~ 8 weeks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80A85EB-E29B-47F7-B9D2-5C25DB16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EC46FE73-14CF-4CBB-8A92-E81CAB992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TPH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80745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Activity by Maruwa Malaysia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a. Matrix by defect PIC: Mr Justin       21</a:t>
            </a:r>
            <a:r>
              <a:rPr lang="en-US" sz="1800" baseline="30000" dirty="0">
                <a:ea typeface="+mn-ea"/>
              </a:rPr>
              <a:t>st</a:t>
            </a:r>
            <a:r>
              <a:rPr lang="en-US" sz="1800" dirty="0">
                <a:ea typeface="+mn-ea"/>
              </a:rPr>
              <a:t> Sept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Conclusion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The working committee propose to proceed with this project.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Current concentration will be for 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No of machine – propose 2 units</a:t>
            </a:r>
          </a:p>
          <a:p>
            <a:pPr marL="342900" indent="-342900" eaLnBrk="1" hangingPunct="1">
              <a:buFont typeface="Arial" panose="020B0604020202020204" pitchFamily="34" charset="0"/>
              <a:buAutoNum type="alphaLcPeriod"/>
              <a:defRPr/>
            </a:pPr>
            <a:endParaRPr lang="en-US" sz="1800" dirty="0">
              <a:ea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7">
            <a:extLst>
              <a:ext uri="{FF2B5EF4-FFF2-40B4-BE49-F238E27FC236}">
                <a16:creationId xmlns:a16="http://schemas.microsoft.com/office/drawing/2014/main" id="{FF6FCDC0-EF4B-4A59-BE2B-027AB67D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8" y="511175"/>
            <a:ext cx="4059237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19">
            <a:extLst>
              <a:ext uri="{FF2B5EF4-FFF2-40B4-BE49-F238E27FC236}">
                <a16:creationId xmlns:a16="http://schemas.microsoft.com/office/drawing/2014/main" id="{05446E04-125F-4B82-87B9-67B9F5626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042988"/>
            <a:ext cx="30194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2">
            <a:extLst>
              <a:ext uri="{FF2B5EF4-FFF2-40B4-BE49-F238E27FC236}">
                <a16:creationId xmlns:a16="http://schemas.microsoft.com/office/drawing/2014/main" id="{9DF08096-6372-40F6-A1CA-5F7D7B94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6389" name="Text Box 3">
            <a:extLst>
              <a:ext uri="{FF2B5EF4-FFF2-40B4-BE49-F238E27FC236}">
                <a16:creationId xmlns:a16="http://schemas.microsoft.com/office/drawing/2014/main" id="{340D4BB6-787E-4085-AC01-E924B2078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CERAMIC VALVE – AUTO VISUAL INSPECTION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681038"/>
            <a:ext cx="300831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Images of the supplier visit</a:t>
            </a:r>
          </a:p>
        </p:txBody>
      </p:sp>
      <p:sp>
        <p:nvSpPr>
          <p:cNvPr id="16391" name="TextBox 12">
            <a:extLst>
              <a:ext uri="{FF2B5EF4-FFF2-40B4-BE49-F238E27FC236}">
                <a16:creationId xmlns:a16="http://schemas.microsoft.com/office/drawing/2014/main" id="{6E4BFF2C-AEAD-4857-A080-873B0FC68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961063"/>
            <a:ext cx="5440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/>
              <a:t>TPH VISUAL INSPECTION MACHINE</a:t>
            </a:r>
          </a:p>
        </p:txBody>
      </p:sp>
      <p:pic>
        <p:nvPicPr>
          <p:cNvPr id="16392" name="Picture 11">
            <a:extLst>
              <a:ext uri="{FF2B5EF4-FFF2-40B4-BE49-F238E27FC236}">
                <a16:creationId xmlns:a16="http://schemas.microsoft.com/office/drawing/2014/main" id="{C4F6C815-955D-47AA-B1B3-BC57484CE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3003550"/>
            <a:ext cx="2284413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15">
            <a:extLst>
              <a:ext uri="{FF2B5EF4-FFF2-40B4-BE49-F238E27FC236}">
                <a16:creationId xmlns:a16="http://schemas.microsoft.com/office/drawing/2014/main" id="{FD230C48-FBBA-4B97-BCA8-2D4276ACE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1181100"/>
            <a:ext cx="4060825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9">
            <a:extLst>
              <a:ext uri="{FF2B5EF4-FFF2-40B4-BE49-F238E27FC236}">
                <a16:creationId xmlns:a16="http://schemas.microsoft.com/office/drawing/2014/main" id="{697C3AD8-BE27-4587-9577-62692EB1F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525" y="2747963"/>
            <a:ext cx="2282825" cy="275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Picture 6">
            <a:extLst>
              <a:ext uri="{FF2B5EF4-FFF2-40B4-BE49-F238E27FC236}">
                <a16:creationId xmlns:a16="http://schemas.microsoft.com/office/drawing/2014/main" id="{C0B793A7-5A39-4D51-A1AC-5A5E4FA2E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3090863"/>
            <a:ext cx="2284412" cy="275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5">
            <a:extLst>
              <a:ext uri="{FF2B5EF4-FFF2-40B4-BE49-F238E27FC236}">
                <a16:creationId xmlns:a16="http://schemas.microsoft.com/office/drawing/2014/main" id="{32710446-F983-4077-88F8-42F603F0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14350"/>
            <a:ext cx="304800" cy="5991225"/>
          </a:xfrm>
          <a:prstGeom prst="rect">
            <a:avLst/>
          </a:prstGeom>
          <a:gradFill rotWithShape="0">
            <a:gsLst>
              <a:gs pos="0">
                <a:srgbClr val="6D6C67"/>
              </a:gs>
              <a:gs pos="50000">
                <a:schemeClr val="bg2"/>
              </a:gs>
              <a:gs pos="100000">
                <a:srgbClr val="6D6C6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8195" name="Rectangle 10">
            <a:extLst>
              <a:ext uri="{FF2B5EF4-FFF2-40B4-BE49-F238E27FC236}">
                <a16:creationId xmlns:a16="http://schemas.microsoft.com/office/drawing/2014/main" id="{05C620FD-BB4F-4081-9C04-C12E7E3C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514350"/>
            <a:ext cx="288925" cy="5991225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50000">
                <a:srgbClr val="4343FF"/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17412" name="Text Box 5">
            <a:extLst>
              <a:ext uri="{FF2B5EF4-FFF2-40B4-BE49-F238E27FC236}">
                <a16:creationId xmlns:a16="http://schemas.microsoft.com/office/drawing/2014/main" id="{8DEE228A-2602-4D53-A422-1C836131A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786438"/>
            <a:ext cx="43926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en-US" b="1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E0FDE5EE-AFE8-4AB3-9F5B-EC61C4453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140335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ECN</a:t>
            </a:r>
          </a:p>
        </p:txBody>
      </p:sp>
      <p:sp>
        <p:nvSpPr>
          <p:cNvPr id="17414" name="Rectangle 14">
            <a:extLst>
              <a:ext uri="{FF2B5EF4-FFF2-40B4-BE49-F238E27FC236}">
                <a16:creationId xmlns:a16="http://schemas.microsoft.com/office/drawing/2014/main" id="{66E6D850-2B23-4B62-96A1-67BE5E50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987425"/>
            <a:ext cx="8382000" cy="26670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SUBSTRATE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WINSTAR Technology</a:t>
            </a: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bg1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FILM INSPECTION</a:t>
            </a:r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17415" name="Text Box 3">
            <a:extLst>
              <a:ext uri="{FF2B5EF4-FFF2-40B4-BE49-F238E27FC236}">
                <a16:creationId xmlns:a16="http://schemas.microsoft.com/office/drawing/2014/main" id="{E1A36EA6-73CF-4B12-8C9C-5CE1A0DC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994400"/>
            <a:ext cx="3516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250" tIns="47625" rIns="95250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DATE : 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11</a:t>
            </a:r>
            <a:r>
              <a:rPr lang="en-US" altLang="en-US" sz="1600" b="1" baseline="30000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th </a:t>
            </a:r>
            <a:r>
              <a:rPr lang="en-US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SEPT 2018</a:t>
            </a:r>
            <a:r>
              <a:rPr lang="ja-JP" altLang="en-US" sz="16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0189F76-BE44-4989-8CC8-8D07075EA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3DE9F948-228C-448D-BD60-DCE6ED786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905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SUBSTRATE – FILM INSPECTION (WINSTAR)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560388"/>
            <a:ext cx="8975725" cy="5908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Agenda discussion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11</a:t>
            </a:r>
            <a:r>
              <a:rPr lang="en-US" sz="1800" baseline="30000" dirty="0">
                <a:ea typeface="+mn-ea"/>
              </a:rPr>
              <a:t>th</a:t>
            </a:r>
            <a:r>
              <a:rPr lang="en-US" sz="1800" dirty="0">
                <a:ea typeface="+mn-ea"/>
              </a:rPr>
              <a:t> Sept Discussion</a:t>
            </a:r>
          </a:p>
          <a:p>
            <a:pPr marL="457200" indent="-4572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sz="1800" dirty="0">
                <a:ea typeface="+mn-ea"/>
              </a:rPr>
              <a:t>Inspection requirement </a:t>
            </a:r>
          </a:p>
          <a:p>
            <a:pPr marL="800100" lvl="1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Speed</a:t>
            </a:r>
          </a:p>
          <a:p>
            <a:pPr marL="800100" lvl="1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Defect detection – solid, dent, line &amp; stick</a:t>
            </a:r>
          </a:p>
          <a:p>
            <a:pPr marL="800100" lvl="1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Machine auto stop – defect detected auto stop</a:t>
            </a:r>
          </a:p>
          <a:p>
            <a:pPr marL="800100" lvl="1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Visual field of view</a:t>
            </a:r>
          </a:p>
          <a:p>
            <a:pPr marL="800100" lvl="1" indent="-342900" eaLnBrk="1" hangingPunct="1">
              <a:buFont typeface="Arial" panose="020B0604020202020204" pitchFamily="34" charset="0"/>
              <a:buAutoNum type="alphaLcPeriod"/>
              <a:defRPr/>
            </a:pPr>
            <a:r>
              <a:rPr lang="en-US" sz="1800" dirty="0">
                <a:ea typeface="+mn-ea"/>
              </a:rPr>
              <a:t>Machine operation – Details of safety</a:t>
            </a:r>
          </a:p>
          <a:p>
            <a:pPr eaLnBrk="1" hangingPunct="1">
              <a:defRPr/>
            </a:pPr>
            <a:r>
              <a:rPr lang="en-US" sz="1800" dirty="0">
                <a:ea typeface="+mn-ea"/>
              </a:rPr>
              <a:t>2. Capacity : </a:t>
            </a:r>
            <a:r>
              <a:rPr lang="en-US" sz="1800" dirty="0"/>
              <a:t>15 ~ 30mtr/min</a:t>
            </a:r>
            <a:r>
              <a:rPr lang="en-US" sz="1800" dirty="0">
                <a:ea typeface="+mn-ea"/>
              </a:rPr>
              <a:t>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30min/film (800mtr)  </a:t>
            </a:r>
            <a:r>
              <a:rPr lang="en-US" sz="1800" dirty="0">
                <a:ea typeface="+mn-ea"/>
                <a:sym typeface="Wingdings" panose="05000000000000000000" pitchFamily="2" charset="2"/>
              </a:rPr>
              <a:t> Able to 100% inspection for 1 machine with 12hrs operation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System Function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Upon detected NG  film inspection unit will stop for clean up or dispose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Next action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Need to submit Ng sample for confirmation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1800" dirty="0">
              <a:ea typeface="+mn-ea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Propose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This machine can be </a:t>
            </a:r>
            <a:r>
              <a:rPr lang="en-US" sz="1800" dirty="0" err="1">
                <a:ea typeface="+mn-ea"/>
                <a:sym typeface="Wingdings" panose="05000000000000000000" pitchFamily="2" charset="2"/>
              </a:rPr>
              <a:t>utulise</a:t>
            </a:r>
            <a:r>
              <a:rPr lang="en-US" sz="1800" dirty="0">
                <a:ea typeface="+mn-ea"/>
                <a:sym typeface="Wingdings" panose="05000000000000000000" pitchFamily="2" charset="2"/>
              </a:rPr>
              <a:t> for TPH  Casting machine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  <a:sym typeface="Wingdings" panose="05000000000000000000" pitchFamily="2" charset="2"/>
              </a:rPr>
              <a:t>System will do marking which can be remove by opt during GREEN SHEET INSPECTION</a:t>
            </a:r>
            <a:endParaRPr lang="en-US" sz="1800" dirty="0">
              <a:ea typeface="+mn-ea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7B08DA-84AC-45A0-A313-B3C403BA8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69850"/>
            <a:ext cx="6805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D7BF-AB3E-4D51-8DEE-A5A5DB3C9F71}"/>
              </a:ext>
            </a:extLst>
          </p:cNvPr>
          <p:cNvSpPr txBox="1"/>
          <p:nvPr/>
        </p:nvSpPr>
        <p:spPr>
          <a:xfrm>
            <a:off x="168275" y="681038"/>
            <a:ext cx="300831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1800" dirty="0">
                <a:ea typeface="+mn-ea"/>
              </a:rPr>
              <a:t>Images of the supplier visit</a:t>
            </a:r>
          </a:p>
        </p:txBody>
      </p:sp>
      <p:sp>
        <p:nvSpPr>
          <p:cNvPr id="19460" name="TextBox 12">
            <a:extLst>
              <a:ext uri="{FF2B5EF4-FFF2-40B4-BE49-F238E27FC236}">
                <a16:creationId xmlns:a16="http://schemas.microsoft.com/office/drawing/2014/main" id="{31FA2CC7-0464-458D-9CCB-3D2EBA1C2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961063"/>
            <a:ext cx="445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/>
              <a:t>FILM INSPCTION DEMO UNIT</a:t>
            </a:r>
          </a:p>
        </p:txBody>
      </p:sp>
      <p:pic>
        <p:nvPicPr>
          <p:cNvPr id="19461" name="Picture 3">
            <a:extLst>
              <a:ext uri="{FF2B5EF4-FFF2-40B4-BE49-F238E27FC236}">
                <a16:creationId xmlns:a16="http://schemas.microsoft.com/office/drawing/2014/main" id="{31432558-7E52-43B5-B1C3-D1BD3A6BF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158875"/>
            <a:ext cx="3224212" cy="430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5">
            <a:extLst>
              <a:ext uri="{FF2B5EF4-FFF2-40B4-BE49-F238E27FC236}">
                <a16:creationId xmlns:a16="http://schemas.microsoft.com/office/drawing/2014/main" id="{8250EED4-4E08-48B6-9DA6-57899464E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800" y="1520825"/>
            <a:ext cx="3224213" cy="429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Text Box 3">
            <a:extLst>
              <a:ext uri="{FF2B5EF4-FFF2-40B4-BE49-F238E27FC236}">
                <a16:creationId xmlns:a16="http://schemas.microsoft.com/office/drawing/2014/main" id="{4FB2405D-29AE-4688-A84E-2EAD8E261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203200"/>
            <a:ext cx="735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b="1">
                <a:solidFill>
                  <a:srgbClr val="0000FF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t>SUBSTRATE – FILM INSPECTION (WINSTAR)</a:t>
            </a:r>
            <a:endParaRPr lang="en-US" altLang="en-US" sz="2000">
              <a:solidFill>
                <a:srgbClr val="000000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_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Times New Roman" panose="02020603050405020304" pitchFamily="18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Pages>0</Pages>
  <Words>587</Words>
  <Characters>0</Characters>
  <Application>Microsoft Office PowerPoint</Application>
  <DocSecurity>0</DocSecurity>
  <PresentationFormat>On-screen Show (4:3)</PresentationFormat>
  <Lines>0</Lines>
  <Paragraphs>161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SimSun</vt:lpstr>
      <vt:lpstr>Times New Roman</vt:lpstr>
      <vt:lpstr>MS PGothic</vt:lpstr>
      <vt:lpstr>Yu Gothic</vt:lpstr>
      <vt:lpstr>Arial Narrow</vt:lpstr>
      <vt:lpstr>Wingdings</vt:lpstr>
      <vt:lpstr>Default Design</vt:lpstr>
      <vt:lpstr>Default Design_2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rozana</dc:creator>
  <cp:keywords/>
  <dc:description/>
  <cp:lastModifiedBy>user</cp:lastModifiedBy>
  <cp:revision>361</cp:revision>
  <cp:lastPrinted>2017-02-27T08:47:04Z</cp:lastPrinted>
  <dcterms:created xsi:type="dcterms:W3CDTF">2015-06-02T07:51:08Z</dcterms:created>
  <dcterms:modified xsi:type="dcterms:W3CDTF">2018-09-18T02:46:43Z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1033-9.1.0.4246</vt:lpwstr>
  </property>
</Properties>
</file>